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9" r:id="rId3"/>
    <p:sldId id="297" r:id="rId4"/>
    <p:sldId id="293" r:id="rId5"/>
    <p:sldId id="298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8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786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hyperlink" Target="https://github.com/Rengoku9000/ip-shakti.git" TargetMode="External"/><Relationship Id="rId6" Type="http://schemas.openxmlformats.org/officeDocument/2006/relationships/image" Target="../media/image7.png"/><Relationship Id="rId7" Type="http://schemas.openxmlformats.org/officeDocument/2006/relationships/hyperlink" Target="https://drive.google.com/drive/folders/1nfDT2fVEXlzJ61C37zGnA_zNBlg5g-mK?usp=drive_link" TargetMode="External"/><Relationship Id="rId8" Type="http://schemas.openxmlformats.org/officeDocument/2006/relationships/hyperlink" Target="https://github.com/Rengoku9000/ip-shakti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10.jpeg"/><Relationship Id="rId14" Type="http://schemas.openxmlformats.org/officeDocument/2006/relationships/hyperlink" Target="https://ipindia.gov.in/resource/patents-resources-act" TargetMode="External"/><Relationship Id="rId15" Type="http://schemas.openxmlformats.org/officeDocument/2006/relationships/hyperlink" Target="https://nbaindia.nic.in/" TargetMode="External"/><Relationship Id="rId16" Type="http://schemas.openxmlformats.org/officeDocument/2006/relationships/hyperlink" Target="https://ayush.gov.in/resources/pdf/quality_standards/Drugs-and-Cosmetics-Act-Rules.pdf" TargetMode="External"/><Relationship Id="rId17" Type="http://schemas.openxmlformats.org/officeDocument/2006/relationships/hyperlink" Target="https://www.wipo.int/en/web/treaties/ip/gratk/index" TargetMode="External"/><Relationship Id="rId18" Type="http://schemas.openxmlformats.org/officeDocument/2006/relationships/hyperlink" Target="https://www.cbd.int/abs/text/default.shtml" TargetMode="External"/><Relationship Id="rId19" Type="http://schemas.openxmlformats.org/officeDocument/2006/relationships/hyperlink" Target="https://www.portal.pcimh.gov.in/" TargetMode="External"/><Relationship Id="rId20" Type="http://schemas.openxmlformats.org/officeDocument/2006/relationships/hyperlink" Target="https://huggingface.co/sentence-transformers/all-MiniLM-L6-v2" TargetMode="External"/><Relationship Id="rId21" Type="http://schemas.openxmlformats.org/officeDocument/2006/relationships/hyperlink" Target="https://github.com/Rengoku9000/ip-shakti" TargetMode="External"/><Relationship Id="rId22" Type="http://schemas.openxmlformats.org/officeDocument/2006/relationships/hyperlink" Target="https://drive.google.com/drive/folders/1nfDT2fVEXlzJ61C37zGnA_zNBlg5g-mK?usp=drive_link" TargetMode="External"/><Relationship Id="rId23" Type="http://schemas.openxmlformats.org/officeDocument/2006/relationships/hyperlink" Target="https://tkdl.res.in/tkdl/langdefault/common/Home.asp?GL=E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14440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63094" y="36456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IP-SAKTI Sahayak</a:t>
            </a:r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600" y="1587500"/>
            <a:ext cx="4826000" cy="38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SIH26045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b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 – AI-Powered Assistant for Intellectual Property, Traditional Knowledge, and Regulatory Frameworks in Ayurveda.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MedTech / Ayush / LegalTech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Category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Software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146711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t>Team Name – OUTLAWS</a:t>
            </a:r>
            <a:endParaRPr lang="en-IN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6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IP-SAKTI Sahayak  •  SIH26045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47028" y="16262"/>
            <a:ext cx="9046727" cy="1162518"/>
          </a:xfrm>
        </p:spPr>
        <p:txBody>
          <a:bodyPr wrap="none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0" y="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960120"/>
            <a:ext cx="1145743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TextBox 15362"/>
          <p:cNvSpPr txBox="1"/>
          <p:nvPr/>
        </p:nvSpPr>
        <p:spPr>
          <a:xfrm>
            <a:off x="548640" y="102412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2545"/>
                </a:solidFill>
                <a:latin typeface="Segoe UI"/>
              </a:defRPr>
            </a:pPr>
            <a:r>
              <a:t>An Offline-First Assistant for Ayurveda IP &amp; Regulation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Brings source-linked patent, traditional-knowledge, and ASU regulatory references into one trilingual workflow.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503920" y="1097280"/>
            <a:ext cx="3108960" cy="502920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Offline-First  •  Local CPU  •  SHA-256 Source Checks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6" name="Picture 1536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57399"/>
            <a:ext cx="502920" cy="502920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143000" y="2057399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Authoritative Legal Ingestion</a:t>
            </a:r>
          </a:p>
          <a:p>
            <a:pPr>
              <a:defRPr sz="900">
                <a:solidFill>
                  <a:srgbClr val="D97706"/>
                </a:solidFill>
              </a:defRPr>
            </a:pPr>
            <a:r>
              <a:t>Indexed sources with file-integrity checks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48640" y="2651759"/>
            <a:ext cx="332841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• Source Corpus: </a:t>
            </a:r>
            <a:r>
              <a:rPr sz="900">
                <a:solidFill>
                  <a:srgbClr val="475569"/>
                </a:solidFill>
              </a:rPr>
              <a:t>Indian acts and rules plus selected treaties and reference sources.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SHA-256 Checks: </a:t>
            </a:r>
            <a:r>
              <a:rPr sz="900">
                <a:solidFill>
                  <a:srgbClr val="475569"/>
                </a:solidFill>
              </a:rPr>
              <a:t>Detect changes to indexed files; they do not establish legal correctness.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Source Links: </a:t>
            </a:r>
            <a:r>
              <a:rPr sz="900">
                <a:solidFill>
                  <a:srgbClr val="475569"/>
                </a:solidFill>
              </a:rPr>
              <a:t>Connect retrieved passages to section anchors and source records.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242816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0" name="Picture 1536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057399"/>
            <a:ext cx="502920" cy="50292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5020056" y="2057399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Jurisdiction-Aware Retrieval</a:t>
            </a:r>
          </a:p>
          <a:p>
            <a:pPr>
              <a:defRPr sz="900">
                <a:solidFill>
                  <a:srgbClr val="0B4F34"/>
                </a:solidFill>
              </a:defRPr>
            </a:pPr>
            <a:r>
              <a:t>Keeps domestic statutes and treaty sources distinct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425696" y="2651759"/>
            <a:ext cx="332841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• Source Routing: </a:t>
            </a:r>
            <a:r>
              <a:rPr sz="900">
                <a:solidFill>
                  <a:srgbClr val="475569"/>
                </a:solidFill>
              </a:rPr>
              <a:t>Separates Indian statutes from treaty materials (WIPO, PCT, Nagoya).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Formulation Triage: </a:t>
            </a:r>
            <a:r>
              <a:rPr sz="900">
                <a:solidFill>
                  <a:srgbClr val="475569"/>
                </a:solidFill>
              </a:rPr>
              <a:t>Flags traditional-knowledge issues for expert review; it does not decide patentability.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TKDL Safeguards: </a:t>
            </a:r>
            <a:r>
              <a:rPr sz="900">
                <a:solidFill>
                  <a:srgbClr val="475569"/>
                </a:solidFill>
              </a:rPr>
              <a:t>Avoids exposing restricted TKDL content and relies on accessible sources.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8119872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4" name="Picture 153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2057399"/>
            <a:ext cx="502920" cy="50292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8897112" y="2057399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Trilingual, Source-Linked Answers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English, Hindi, and Kannada interface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8302752" y="2651759"/>
            <a:ext cx="332841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• Source Trail: </a:t>
            </a:r>
            <a:r>
              <a:rPr sz="900">
                <a:solidFill>
                  <a:srgbClr val="475569"/>
                </a:solidFill>
              </a:rPr>
              <a:t>Shows retrieved sources and section anchors where available.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Language Support: </a:t>
            </a:r>
            <a:r>
              <a:rPr sz="900">
                <a:solidFill>
                  <a:srgbClr val="475569"/>
                </a:solidFill>
              </a:rPr>
              <a:t>Provides guidance in English, Hindi (Devanagari), and Kannada.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Citation Preservation: </a:t>
            </a:r>
            <a:r>
              <a:rPr sz="900">
                <a:solidFill>
                  <a:srgbClr val="475569"/>
                </a:solidFill>
              </a:rPr>
              <a:t>Keeps source names and legal section labels unchanged across languages.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365760" y="4434840"/>
            <a:ext cx="11457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502920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502920" y="4544568"/>
            <a:ext cx="2103120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1. USER QUERY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76072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Natural language input</a:t>
            </a:r>
            <a:br/>
            <a:r>
              <a:t>(EN / HI / KN)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2633472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2770632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2770632" y="4544568"/>
            <a:ext cx="2103120" cy="256032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2. INTENT &amp; JURISDICTION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2843784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Query type and source scope</a:t>
            </a:r>
            <a:br/>
            <a:r>
              <a:t>India vs. international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901184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038344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Rounded Rectangle 15386"/>
          <p:cNvSpPr/>
          <p:nvPr/>
        </p:nvSpPr>
        <p:spPr>
          <a:xfrm>
            <a:off x="5038344" y="4544568"/>
            <a:ext cx="210312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3. DUAL RETRIEVAL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111496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FAISS Vector Search +</a:t>
            </a:r>
            <a:br/>
            <a:r>
              <a:t>SQLite Relational WAL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7168896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7306056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Rounded Rectangle 15390"/>
          <p:cNvSpPr/>
          <p:nvPr/>
        </p:nvSpPr>
        <p:spPr>
          <a:xfrm>
            <a:off x="7306056" y="4544568"/>
            <a:ext cx="210312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4. EPISTEMIC VALIDATOR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7379208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Checks retrieved evidence;</a:t>
            </a:r>
            <a:br/>
            <a:r>
              <a:t>abstains when support is insufficient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9436608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9573768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5" name="Rounded Rectangle 15394"/>
          <p:cNvSpPr/>
          <p:nvPr/>
        </p:nvSpPr>
        <p:spPr>
          <a:xfrm>
            <a:off x="9573768" y="4544568"/>
            <a:ext cx="2103120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5. SOURCE-LINKED OUTPUT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9646920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Answer with source links</a:t>
            </a:r>
            <a:br/>
            <a:r>
              <a:t>citations shown where available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365760" y="5532120"/>
            <a:ext cx="11457432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457200" y="5541264"/>
            <a:ext cx="112745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PROJECT REPORT: 106/106 tests passing  |  &lt;1.2s query benchmark on i5 CPU  |  Offline-first mode</a:t>
            </a:r>
          </a:p>
        </p:txBody>
      </p:sp>
    </p:spTree>
    <p:extLst>
      <p:ext uri="{BB962C8B-B14F-4D97-AF65-F5344CB8AC3E}">
        <p14:creationId xmlns:p14="http://schemas.microsoft.com/office/powerpoint/2010/main" val="359609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IP-SAKTI Sahayak  •  SIH26045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/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005840"/>
            <a:ext cx="6309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1430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End-to-End Grounded AI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554480"/>
            <a:ext cx="5852160" cy="86868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0B4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27632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4F34"/>
                </a:solidFill>
              </a:defRPr>
            </a:pPr>
            <a:r>
              <a:t>LAYER 1: PRESENTATION &amp; USER EXPERIENCE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Streamlit Web Application  •  Custom High-Contrast CSS  •  Responsive Viewport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Trilingual Query Input (EN/HI/KN)  |  Citation Inspector Drawer  |  Statutory Card Badges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87752"/>
            <a:ext cx="5852160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660904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LAYER 2: REST API &amp; EPISTEMIC REASONING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FastAPI Core Service  •  Pydantic V2 Models  •  Strict Boundary Enforcement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Query Intent Classifier  |  Formulation vs Extract Router  |  Epistemic Legal Reasoner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21024"/>
            <a:ext cx="5852160" cy="868680"/>
          </a:xfrm>
          <a:prstGeom prst="roundRect">
            <a:avLst/>
          </a:prstGeom>
          <a:solidFill>
            <a:srgbClr val="FEF3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LAYER 3: DUAL RETRIEVAL &amp; INDEXING ENGINE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Vector retrieval and relational source records  •  SHA-256 file checks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FAISS CPU  |  SQLite WAL  |  Citation and section anchors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54296"/>
            <a:ext cx="5852160" cy="868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LAYER 4: AUTHORITATIVE SOURCES &amp; GUARDRAILS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Indian statutes and ASU rules  •  WIPO / Nagoya treaty materials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Pharmacopoeial references  •  Public traditional-knowledge sources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9651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1115568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Core Technology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4447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14813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FRONTEND &amp; APP SHELL: </a:t>
            </a:r>
            <a:r>
              <a:rPr sz="850" b="1">
                <a:solidFill>
                  <a:srgbClr val="0B4F34"/>
                </a:solidFill>
              </a:rPr>
              <a:t>Streamlit, Python 3.11, Custom CSS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Responsive interface, multi-tab navigation, and Indic-script support.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19019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19385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BACKEND &amp; REASONING: </a:t>
            </a:r>
            <a:r>
              <a:rPr sz="850" b="1">
                <a:solidFill>
                  <a:srgbClr val="0B4F34"/>
                </a:solidFill>
              </a:rPr>
              <a:t>FastAPI, Pydantic V2, Uvicorn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Modular API, schema validation, and a rules-based fallback.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3591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23957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VECTOR &amp; STORAGE: </a:t>
            </a:r>
            <a:r>
              <a:rPr sz="850" b="1">
                <a:solidFill>
                  <a:srgbClr val="0B4F34"/>
                </a:solidFill>
              </a:rPr>
              <a:t>FAISS CPU, SQLite WAL, SHA-256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Local vector retrieval, source records, and file-integrity checks.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8163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28529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LOCAL AI &amp; INDIC NLP: </a:t>
            </a:r>
            <a:r>
              <a:rPr sz="850" b="1">
                <a:solidFill>
                  <a:srgbClr val="0B4F34"/>
                </a:solidFill>
              </a:rPr>
              <a:t>Sentence-Transformers, all-MiniLM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384-dimensional embeddings; external model endpoints are optional.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474720"/>
            <a:ext cx="49651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86600" y="3584448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Empirical Validation &amp; Reproducibility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3968496"/>
            <a:ext cx="1444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&lt; 1.2s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End-to-End Query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Project report benchmark (Intel i5-1135G7)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0" y="3968496"/>
            <a:ext cx="1444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~650 MB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Measured RAM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Project report; 8 GB test system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49840" y="3968496"/>
            <a:ext cx="1444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106 / 106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Automated Tests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Project report lists all tests passing</a:t>
            </a:r>
          </a:p>
        </p:txBody>
      </p:sp>
      <p:pic>
        <p:nvPicPr>
          <p:cNvPr id="41" name="Picture 40" descr="image.png">
            <a:hlinkClick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800600"/>
            <a:ext cx="749808" cy="749808"/>
          </a:xfrm>
          <a:prstGeom prst="rect">
            <a:avLst/>
          </a:prstGeom>
        </p:spPr>
      </p:pic>
      <p:sp>
        <p:nvSpPr>
          <p:cNvPr id="42" name="TextBox 41">
            <a:hlinkClick r:id="rId8"/>
          </p:cNvPr>
          <p:cNvSpPr txBox="1"/>
          <p:nvPr/>
        </p:nvSpPr>
        <p:spPr>
          <a:xfrm>
            <a:off x="8046720" y="4910328"/>
            <a:ext cx="164592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rPr dirty="0"/>
              <a:t>GitHub Repository</a:t>
            </a:r>
            <a:br>
              <a:rPr lang="en-IN" dirty="0"/>
            </a:br>
            <a:r>
              <a:rPr lang="en-IN" dirty="0">
                <a:hlinkClick r:id="rId5"/>
              </a:rPr>
              <a:t>Open repository</a:t>
            </a:r>
            <a:endParaRPr dirty="0"/>
          </a:p>
        </p:txBody>
      </p:sp>
      <p:pic>
        <p:nvPicPr>
          <p:cNvPr id="43" name="Picture 42" descr="qr_report.png">
            <a:hlinkClick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4800600"/>
            <a:ext cx="749808" cy="749808"/>
          </a:xfrm>
          <a:prstGeom prst="rect">
            <a:avLst/>
          </a:prstGeom>
        </p:spPr>
      </p:pic>
      <p:sp>
        <p:nvSpPr>
          <p:cNvPr id="44" name="TextBox 43">
            <a:hlinkClick r:id="rId7"/>
          </p:cNvPr>
          <p:cNvSpPr txBox="1"/>
          <p:nvPr/>
        </p:nvSpPr>
        <p:spPr>
          <a:xfrm>
            <a:off x="10424160" y="4910329"/>
            <a:ext cx="1399032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rPr dirty="0"/>
              <a:t>Project Report</a:t>
            </a:r>
            <a:br>
              <a:rPr lang="en-IN" dirty="0"/>
            </a:br>
            <a:r>
              <a:rPr lang="en-IN" sz="800" dirty="0">
                <a:hlinkClick r:id="rId7"/>
              </a:rPr>
              <a:t>Open report folder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291078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FEASIBILITY, VIABILITY &amp;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IP-SAKTI Sahayak  •  SIH26045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4864588-AE68-F97D-E8B2-B9FC7BE44E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097280"/>
            <a:ext cx="411480" cy="4114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024128" y="1097280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4F34"/>
                </a:solidFill>
              </a:defRPr>
            </a:pPr>
            <a:r>
              <a:t>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30352" y="1490472"/>
            <a:ext cx="336499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• CPU Benchmark: </a:t>
            </a:r>
            <a:r>
              <a:rPr sz="800">
                <a:solidFill>
                  <a:srgbClr val="475569"/>
                </a:solidFill>
              </a:rPr>
              <a:t>Measured on an Intel Core i5-1135G7; no discrete GPU.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Query Latency: </a:t>
            </a:r>
            <a:r>
              <a:rPr sz="800">
                <a:solidFill>
                  <a:srgbClr val="475569"/>
                </a:solidFill>
              </a:rPr>
              <a:t>Project report records end-to-end responses under 1.2 seconds.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Offline Mode: </a:t>
            </a:r>
            <a:r>
              <a:rPr sz="800">
                <a:solidFill>
                  <a:srgbClr val="475569"/>
                </a:solidFill>
              </a:rPr>
              <a:t>Local corpus and rules-based fallback; external model service is optional.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097280"/>
            <a:ext cx="411480" cy="411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01184" y="1097280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Operational &amp; Market Viability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07408" y="1490472"/>
            <a:ext cx="336499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• No API Cost in Local Mode: </a:t>
            </a:r>
            <a:r>
              <a:rPr sz="800">
                <a:solidFill>
                  <a:srgbClr val="475569"/>
                </a:solidFill>
              </a:rPr>
              <a:t>Runs without an external model service.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Ayush-Focused Workflow: </a:t>
            </a:r>
            <a:r>
              <a:rPr sz="800">
                <a:solidFill>
                  <a:srgbClr val="475569"/>
                </a:solidFill>
              </a:rPr>
              <a:t>Built for researchers, Vaidyas, and patent professionals.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Browser-Based Interface: </a:t>
            </a:r>
            <a:r>
              <a:rPr sz="800">
                <a:solidFill>
                  <a:srgbClr val="475569"/>
                </a:solidFill>
              </a:rPr>
              <a:t>Designed for users without command-line experience.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9872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1097280"/>
            <a:ext cx="411480" cy="4114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778240" y="1097280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Regulatory &amp; Sovereign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84464" y="1490472"/>
            <a:ext cx="336499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• TKDL Safeguards: </a:t>
            </a:r>
            <a:r>
              <a:rPr sz="800">
                <a:solidFill>
                  <a:srgbClr val="475569"/>
                </a:solidFill>
              </a:rPr>
              <a:t>The prototype does not reproduce content from the restricted TKDL database.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Local Deployment: </a:t>
            </a:r>
            <a:r>
              <a:rPr sz="800">
                <a:solidFill>
                  <a:srgbClr val="475569"/>
                </a:solidFill>
              </a:rPr>
              <a:t>Data stays on the host when offline mode is used.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Evidence Controls: </a:t>
            </a:r>
            <a:r>
              <a:rPr sz="800">
                <a:solidFill>
                  <a:srgbClr val="475569"/>
                </a:solidFill>
              </a:rPr>
              <a:t>Shows available source anchors and abstains when support is insufficient.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56032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2697480"/>
            <a:ext cx="2148840" cy="137160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2788920" y="269748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Validated Working Prototype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Streamlit web interface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Section 3(p) and biodiversity-law source triage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Interactive source citations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English, Hindi, and Kannada interface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52160" y="2560320"/>
            <a:ext cx="59710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6126480" y="2697480"/>
            <a:ext cx="54223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Empirical Validation Highlights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26480" y="3017520"/>
            <a:ext cx="54223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B365D"/>
                </a:solidFill>
              </a:rPr>
              <a:t>• 7 Indexed Corpora: </a:t>
            </a:r>
            <a:r>
              <a:rPr sz="850">
                <a:solidFill>
                  <a:srgbClr val="475569"/>
                </a:solidFill>
              </a:rPr>
              <a:t>Acts, rules, treaty materials, pharmacopoeial and traditional-knowledge references.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B365D"/>
                </a:solidFill>
              </a:rPr>
              <a:t>• 106 / 106 Tests: </a:t>
            </a:r>
            <a:r>
              <a:rPr sz="850">
                <a:solidFill>
                  <a:srgbClr val="475569"/>
                </a:solidFill>
              </a:rPr>
              <a:t>Project report lists all tests as passing.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B365D"/>
                </a:solidFill>
              </a:rPr>
              <a:t>• &lt; 1.2s Benchmark: </a:t>
            </a:r>
            <a:r>
              <a:rPr sz="850">
                <a:solidFill>
                  <a:srgbClr val="475569"/>
                </a:solidFill>
              </a:rPr>
              <a:t>Reported on Intel Core i5-1135G7 with 8 GB RAM.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4343400"/>
            <a:ext cx="114574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Scalability &amp; Deployment Roadmap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94360" y="4690872"/>
            <a:ext cx="3520440" cy="932688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0B4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704088" y="4745736"/>
            <a:ext cx="3300984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B4F34"/>
                </a:solidFill>
              </a:defRPr>
            </a:pPr>
            <a:r>
              <a:t>PHASE 1: WORKING PROTOTYPE (CURRENT)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SIH 2026 Milestone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FastAPI backend and Streamlit UI</a:t>
            </a:r>
            <a:br/>
            <a:r>
              <a:t>• 7 legal and reference corpora indexed</a:t>
            </a:r>
            <a:br/>
            <a:r>
              <a:t>• &lt;1.2s benchmark; 106/106 tests reported</a:t>
            </a:r>
            <a:br/>
            <a:r>
              <a:t>• English, Hindi, and Kannada interface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334256" y="4690872"/>
            <a:ext cx="3520440" cy="93268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4443984" y="4745736"/>
            <a:ext cx="3300984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B365D"/>
                </a:solidFill>
              </a:defRPr>
            </a:pPr>
            <a:r>
              <a:t>PHASE 2: INSTITUTIONAL PILOT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Q4 2026 (PLANNED)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Proposed pilot at 5 Ayush research universities</a:t>
            </a:r>
            <a:br/>
            <a:r>
              <a:t>• Feedback from patent professionals</a:t>
            </a:r>
            <a:br/>
            <a:r>
              <a:t>• Prototype State Biodiversity Board ABS calculator</a:t>
            </a:r>
            <a:br/>
            <a:r>
              <a:t>• Accuracy and latency testing at scale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074152" y="4690872"/>
            <a:ext cx="3520440" cy="932688"/>
          </a:xfrm>
          <a:prstGeom prst="roundRect">
            <a:avLst/>
          </a:prstGeom>
          <a:solidFill>
            <a:srgbClr val="FEF3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8183880" y="4745736"/>
            <a:ext cx="3300984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PHASE 3: NATIONAL SCALE &amp; EXPANSION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2027 &amp; Beyond (PLANNED)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Explore National Ayush Mission integration</a:t>
            </a:r>
            <a:br/>
            <a:r>
              <a:t>• Prototype IP India Gazette updates</a:t>
            </a:r>
            <a:br/>
            <a:r>
              <a:t>• Evaluate 4-bit on-device model options</a:t>
            </a:r>
            <a:br/>
            <a:r>
              <a:t>• Consider Tamil, Telugu, Marathi, and Bengali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IMPACT, BENEFITS &amp; STAKEHOLDERS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IP-SAKTI Sahayak  •  SIH26045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95AF433-6E91-BD54-F1A8-1AF4CED841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97280"/>
            <a:ext cx="1188720" cy="9144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783080" y="1097280"/>
            <a:ext cx="21396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Bio-Piracy Defense &amp; Sovereignty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2075688"/>
            <a:ext cx="3419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Surfaces public traditional-knowledge references and Section 3(p) material to support expert patent review.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097280"/>
            <a:ext cx="1188720" cy="91440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5660136" y="1097280"/>
            <a:ext cx="21396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Accelerated Ayush R&amp;D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79976" y="2075688"/>
            <a:ext cx="3419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Brings patent, biodiversity, and ASU references into one searchable workflow, reducing time spent across source portals.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9872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1097280"/>
            <a:ext cx="1188720" cy="91440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537192" y="1097280"/>
            <a:ext cx="21396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Grassroots Language Equity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57032" y="2075688"/>
            <a:ext cx="3419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Offers source-linked guidance in English, Hindi, and Kannada to make legal and regulatory references easier to navigate.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017520"/>
            <a:ext cx="822960" cy="82296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417320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Ayush Researchers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Source Discovery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Find relevant indexed sources early in formulation research; verify cited text before clinical or filing decisions.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64408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7" name="Picture 174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3017520"/>
            <a:ext cx="822960" cy="82296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315968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Patent Attorneys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Citation-Led Research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401568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Review linked statutory provisions and technical references while preparing a patent or compliance analysis.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63056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1" name="Picture 174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3017520"/>
            <a:ext cx="822960" cy="82296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214616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Herbal MSMEs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ASU Reference Guidance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300216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Find references on ASU licensing, pharmacopoeial standards, and biodiversity approvals; confirm requirements with the relevant authority.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61704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5" name="Picture 174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8864" y="3017520"/>
            <a:ext cx="822960" cy="82296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0113264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Traditional Healers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Public Information Access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198864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Access public Hindi and Kannada information about traditional knowledge and related intellectual-property frameworks.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65760" y="4892040"/>
            <a:ext cx="1145743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502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Offline-First Option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No external model call in local mode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788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CPU-Only Operation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Benchmarked without a discrete GPU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074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Source-Linked Responses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Citations connect to indexed references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360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Cross-Domain Retrieval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Connects patent, biodiversity, and ASU sources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646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Three Supported Languages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English, Hindi, and Kannada</a:t>
            </a:r>
          </a:p>
        </p:txBody>
      </p:sp>
    </p:spTree>
    <p:extLst>
      <p:ext uri="{BB962C8B-B14F-4D97-AF65-F5344CB8AC3E}">
        <p14:creationId xmlns:p14="http://schemas.microsoft.com/office/powerpoint/2010/main" val="175162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RESEARCH, REFERENCES &amp;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IP-SAKTI Sahayak  •  SIH26045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005840"/>
            <a:ext cx="59436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06070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2545"/>
                </a:solidFill>
              </a:defRPr>
            </a:pPr>
            <a:r>
              <a:t>1. Indian Acts &amp; Regulatory Sources</a:t>
            </a:r>
          </a:p>
        </p:txBody>
      </p:sp>
      <p:pic>
        <p:nvPicPr>
          <p:cNvPr id="15" name="Picture 14" descr="image.png">
            <a:hlinkClick r:id="rId14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71016"/>
            <a:ext cx="402336" cy="402336"/>
          </a:xfrm>
          <a:prstGeom prst="rect">
            <a:avLst/>
          </a:prstGeom>
        </p:spPr>
      </p:pic>
      <p:sp>
        <p:nvSpPr>
          <p:cNvPr id="16" name="TextBox 15">
            <a:hlinkClick r:id="rId14"/>
          </p:cNvPr>
          <p:cNvSpPr txBox="1"/>
          <p:nvPr/>
        </p:nvSpPr>
        <p:spPr>
          <a:xfrm>
            <a:off x="950976" y="1316736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Patents Act, 1970 (Sections 3(p), 10(4)) — </a:t>
            </a:r>
            <a:r>
              <a:rPr sz="800">
                <a:solidFill>
                  <a:srgbClr val="2563EB"/>
                </a:solidFill>
              </a:rPr>
              <a:t>ipindia.gov.in</a:t>
            </a:r>
          </a:p>
        </p:txBody>
      </p:sp>
      <p:pic>
        <p:nvPicPr>
          <p:cNvPr id="17" name="Picture 16" descr="image.png">
            <a:hlinkClick r:id="rId15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655064"/>
            <a:ext cx="402336" cy="402336"/>
          </a:xfrm>
          <a:prstGeom prst="rect">
            <a:avLst/>
          </a:prstGeom>
        </p:spPr>
      </p:pic>
      <p:sp>
        <p:nvSpPr>
          <p:cNvPr id="18" name="TextBox 17">
            <a:hlinkClick r:id="rId15"/>
          </p:cNvPr>
          <p:cNvSpPr txBox="1"/>
          <p:nvPr/>
        </p:nvSpPr>
        <p:spPr>
          <a:xfrm>
            <a:off x="950976" y="170078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Biological Diversity Act, 2002 (as amended 2023) — </a:t>
            </a:r>
            <a:r>
              <a:rPr sz="800">
                <a:solidFill>
                  <a:srgbClr val="2563EB"/>
                </a:solidFill>
              </a:rPr>
              <a:t>nbaindia.nic.in</a:t>
            </a:r>
          </a:p>
        </p:txBody>
      </p:sp>
      <p:pic>
        <p:nvPicPr>
          <p:cNvPr id="19" name="Picture 18" descr="image.png">
            <a:hlinkClick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039112"/>
            <a:ext cx="402336" cy="402336"/>
          </a:xfrm>
          <a:prstGeom prst="rect">
            <a:avLst/>
          </a:prstGeom>
        </p:spPr>
      </p:pic>
      <p:sp>
        <p:nvSpPr>
          <p:cNvPr id="20" name="TextBox 19">
            <a:hlinkClick r:id="rId16"/>
          </p:cNvPr>
          <p:cNvSpPr txBox="1"/>
          <p:nvPr/>
        </p:nvSpPr>
        <p:spPr>
          <a:xfrm>
            <a:off x="950976" y="208483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Drugs &amp; Cosmetics Act, 1940 and Rules (ASU) — </a:t>
            </a:r>
            <a:r>
              <a:rPr sz="800">
                <a:solidFill>
                  <a:srgbClr val="2563EB"/>
                </a:solidFill>
              </a:rPr>
              <a:t>ayush.gov.in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560320"/>
            <a:ext cx="59436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61518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2545"/>
                </a:solidFill>
              </a:defRPr>
            </a:pPr>
            <a:r>
              <a:t>2. Treaties &amp; Traditional-Knowledge Resources</a:t>
            </a:r>
          </a:p>
        </p:txBody>
      </p:sp>
      <p:pic>
        <p:nvPicPr>
          <p:cNvPr id="23" name="Picture 22" descr="image.png">
            <a:hlinkClick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825496"/>
            <a:ext cx="402336" cy="402336"/>
          </a:xfrm>
          <a:prstGeom prst="rect">
            <a:avLst/>
          </a:prstGeom>
        </p:spPr>
      </p:pic>
      <p:sp>
        <p:nvSpPr>
          <p:cNvPr id="24" name="TextBox 23">
            <a:hlinkClick r:id="rId17"/>
          </p:cNvPr>
          <p:cNvSpPr txBox="1"/>
          <p:nvPr/>
        </p:nvSpPr>
        <p:spPr>
          <a:xfrm>
            <a:off x="950976" y="2871216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WIPO GRATK Treaty — adopted 2024; not yet in force — </a:t>
            </a:r>
            <a:r>
              <a:rPr sz="800">
                <a:solidFill>
                  <a:srgbClr val="2563EB"/>
                </a:solidFill>
              </a:rPr>
              <a:t>wipo.int</a:t>
            </a:r>
          </a:p>
        </p:txBody>
      </p:sp>
      <p:pic>
        <p:nvPicPr>
          <p:cNvPr id="25" name="Picture 24" descr="image.png">
            <a:hlinkClick r:id="rId18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209544"/>
            <a:ext cx="402336" cy="402336"/>
          </a:xfrm>
          <a:prstGeom prst="rect">
            <a:avLst/>
          </a:prstGeom>
        </p:spPr>
      </p:pic>
      <p:sp>
        <p:nvSpPr>
          <p:cNvPr id="26" name="TextBox 25">
            <a:hlinkClick r:id="rId18"/>
          </p:cNvPr>
          <p:cNvSpPr txBox="1"/>
          <p:nvPr/>
        </p:nvSpPr>
        <p:spPr>
          <a:xfrm>
            <a:off x="950976" y="325526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Nagoya Protocol on Access &amp; Benefit-Sharing — </a:t>
            </a:r>
            <a:r>
              <a:rPr sz="800">
                <a:solidFill>
                  <a:srgbClr val="2563EB"/>
                </a:solidFill>
              </a:rPr>
              <a:t>cbd.int</a:t>
            </a:r>
          </a:p>
        </p:txBody>
      </p:sp>
      <p:pic>
        <p:nvPicPr>
          <p:cNvPr id="27" name="Picture 26" descr="image.png">
            <a:hlinkClick r:id="rId19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593592"/>
            <a:ext cx="402336" cy="402336"/>
          </a:xfrm>
          <a:prstGeom prst="rect">
            <a:avLst/>
          </a:prstGeom>
        </p:spPr>
      </p:pic>
      <p:sp>
        <p:nvSpPr>
          <p:cNvPr id="28" name="TextBox 27">
            <a:hlinkClick r:id="rId19"/>
          </p:cNvPr>
          <p:cNvSpPr txBox="1"/>
          <p:nvPr/>
        </p:nvSpPr>
        <p:spPr>
          <a:xfrm>
            <a:off x="950976" y="3639312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PCIM&amp;H Pharmacopoeial Standards — </a:t>
            </a:r>
            <a:r>
              <a:rPr sz="800">
                <a:solidFill>
                  <a:srgbClr val="2563EB"/>
                </a:solidFill>
                <a:hlinkClick r:id="rId19"/>
              </a:rPr>
              <a:t>pcimh.gov.in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14800"/>
            <a:ext cx="59436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16966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2545"/>
                </a:solidFill>
              </a:defRPr>
            </a:pPr>
            <a:r>
              <a:t>3. Technical Resources &amp; Project Files</a:t>
            </a:r>
          </a:p>
        </p:txBody>
      </p:sp>
      <p:pic>
        <p:nvPicPr>
          <p:cNvPr id="31" name="Picture 30" descr="image.png">
            <a:hlinkClick r:id="rId20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379976"/>
            <a:ext cx="402336" cy="402336"/>
          </a:xfrm>
          <a:prstGeom prst="rect">
            <a:avLst/>
          </a:prstGeom>
        </p:spPr>
      </p:pic>
      <p:sp>
        <p:nvSpPr>
          <p:cNvPr id="32" name="TextBox 31">
            <a:hlinkClick r:id="rId20"/>
          </p:cNvPr>
          <p:cNvSpPr txBox="1"/>
          <p:nvPr/>
        </p:nvSpPr>
        <p:spPr>
          <a:xfrm>
            <a:off x="950976" y="4425696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all-MiniLM-L6-v2 Embedding Model — </a:t>
            </a:r>
            <a:r>
              <a:rPr sz="800">
                <a:solidFill>
                  <a:srgbClr val="2563EB"/>
                </a:solidFill>
              </a:rPr>
              <a:t>huggingface.co</a:t>
            </a:r>
          </a:p>
        </p:txBody>
      </p:sp>
      <p:pic>
        <p:nvPicPr>
          <p:cNvPr id="33" name="Picture 32" descr="image.png">
            <a:hlinkClick r:id="rId21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764024"/>
            <a:ext cx="402336" cy="402336"/>
          </a:xfrm>
          <a:prstGeom prst="rect">
            <a:avLst/>
          </a:prstGeom>
        </p:spPr>
      </p:pic>
      <p:sp>
        <p:nvSpPr>
          <p:cNvPr id="34" name="TextBox 33">
            <a:hlinkClick r:id="rId21"/>
          </p:cNvPr>
          <p:cNvSpPr txBox="1"/>
          <p:nvPr/>
        </p:nvSpPr>
        <p:spPr>
          <a:xfrm>
            <a:off x="950976" y="480974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F172A"/>
                </a:solidFill>
              </a:rPr>
              <a:t>IP-SAKTI </a:t>
            </a:r>
            <a:r>
              <a:rPr sz="850" b="1" dirty="0" err="1">
                <a:solidFill>
                  <a:srgbClr val="0F172A"/>
                </a:solidFill>
              </a:rPr>
              <a:t>Sahayak</a:t>
            </a:r>
            <a:r>
              <a:rPr sz="850" b="1" dirty="0">
                <a:solidFill>
                  <a:srgbClr val="0F172A"/>
                </a:solidFill>
              </a:rPr>
              <a:t> GitHub Repository — </a:t>
            </a:r>
            <a:r>
              <a:rPr sz="800" dirty="0">
                <a:solidFill>
                  <a:srgbClr val="2563EB"/>
                </a:solidFill>
              </a:rPr>
              <a:t>github.com/Rengoku9000/</a:t>
            </a:r>
            <a:r>
              <a:rPr sz="800" dirty="0" err="1">
                <a:solidFill>
                  <a:srgbClr val="2563EB"/>
                </a:solidFill>
              </a:rPr>
              <a:t>ip</a:t>
            </a:r>
            <a:r>
              <a:rPr sz="800" dirty="0">
                <a:solidFill>
                  <a:srgbClr val="2563EB"/>
                </a:solidFill>
              </a:rPr>
              <a:t>-shakti</a:t>
            </a:r>
          </a:p>
        </p:txBody>
      </p:sp>
      <p:pic>
        <p:nvPicPr>
          <p:cNvPr id="35" name="Picture 34" descr="qr_report.png">
            <a:hlinkClick r:id="rId22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5148072"/>
            <a:ext cx="402336" cy="402336"/>
          </a:xfrm>
          <a:prstGeom prst="rect">
            <a:avLst/>
          </a:prstGeom>
        </p:spPr>
      </p:pic>
      <p:sp>
        <p:nvSpPr>
          <p:cNvPr id="36" name="TextBox 35">
            <a:hlinkClick r:id="rId22"/>
          </p:cNvPr>
          <p:cNvSpPr txBox="1"/>
          <p:nvPr/>
        </p:nvSpPr>
        <p:spPr>
          <a:xfrm>
            <a:off x="950976" y="519379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Project Report &amp; Evidence Dossier — </a:t>
            </a:r>
            <a:r>
              <a:rPr sz="800">
                <a:solidFill>
                  <a:srgbClr val="2563EB"/>
                </a:solidFill>
              </a:rPr>
              <a:t>drive.google.com (SIH 2026)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005840"/>
            <a:ext cx="53309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1115568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Prototype UI — Interface Preview</a:t>
            </a:r>
          </a:p>
        </p:txBody>
      </p:sp>
      <p:pic>
        <p:nvPicPr>
          <p:cNvPr id="39" name="Picture 38" descr="image.jpe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1444752"/>
            <a:ext cx="4873752" cy="301752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720840" y="4553712"/>
            <a:ext cx="4873752" cy="10241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4626864"/>
            <a:ext cx="459943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Prototype Scope &amp; Safe Use: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Streamlit interface for English, Hindi, and Kannada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Displays retrieved sources and available citation anchors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Offline rules-based mode; external model endpoint is optional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Research support only; not legal advice</a:t>
            </a:r>
          </a:p>
        </p:txBody>
      </p:sp>
      <p:sp>
        <p:nvSpPr>
          <p:cNvPr id="42" name="TKDL Public Information Link">
            <a:hlinkClick r:id="rId23"/>
          </p:cNvPr>
          <p:cNvSpPr txBox="1"/>
          <p:nvPr/>
        </p:nvSpPr>
        <p:spPr>
          <a:xfrm>
            <a:off x="3703320" y="3639312"/>
            <a:ext cx="224028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  <a:latin typeface="Calibri"/>
              </a:rPr>
              <a:t>TKDL public information — </a:t>
            </a:r>
            <a:r>
              <a:rPr sz="800">
                <a:solidFill>
                  <a:srgbClr val="2563EB"/>
                </a:solidFill>
                <a:latin typeface="Calibri"/>
                <a:hlinkClick r:id="rId23"/>
              </a:rPr>
              <a:t>tkdl.res.in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8173</TotalTime>
  <Words>1595</Words>
  <Application>Microsoft Office PowerPoint</Application>
  <PresentationFormat>Widescreen</PresentationFormat>
  <Paragraphs>178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PROPOSED SOLUTION</vt:lpstr>
      <vt:lpstr>TECHNICAL APPROACH &amp; ARCHITECTURE</vt:lpstr>
      <vt:lpstr>FEASIBILITY, VIABILITY &amp; ROADMAP</vt:lpstr>
      <vt:lpstr>IMPACT, BENEFITS &amp; STAKEHOLDERS</vt:lpstr>
      <vt:lpstr>RESEARCH, REFERENCES &amp; PROTOTYPE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IP-SAKTI Sahayak | Smart India Hackathon 2026</dc:title>
  <dc:subject>SIH26045 — AI-powered assistant for Ayurveda intellectual property and traditional knowledge</dc:subject>
  <dc:creator>Crowdfunder</dc:creator>
  <cp:keywords>IP-SAKTI Sahayak, SIH2026, SIH26045, Ayurveda, intellectual property, traditional knowledge</cp:keywords>
  <dc:description/>
  <cp:lastModifiedBy>Kunal Kumar</cp:lastModifiedBy>
  <cp:revision>192</cp:revision>
  <dcterms:created xsi:type="dcterms:W3CDTF">2013-12-12T18:46:50Z</dcterms:created>
  <dcterms:modified xsi:type="dcterms:W3CDTF">2026-09-30T18:12:27Z</dcterms:modified>
  <cp:category/>
</cp:coreProperties>
</file>
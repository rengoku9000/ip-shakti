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9" r:id="rId3"/>
    <p:sldId id="297" r:id="rId4"/>
    <p:sldId id="293" r:id="rId5"/>
    <p:sldId id="298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 autoAdjust="0"/>
  </p:normalViewPr>
  <p:slideViewPr>
    <p:cSldViewPr snapToGrid="0" snapToObjects="1">
      <p:cViewPr varScale="1">
        <p:scale>
          <a:sx n="111" d="100"/>
          <a:sy n="111" d="100"/>
        </p:scale>
        <p:origin x="55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8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786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hyperlink" Target="https://youtu.be/Be-7RL9CDTo" TargetMode="External"/><Relationship Id="rId27" Type="http://schemas.openxmlformats.org/officeDocument/2006/relationships/image" Target="../media/image25.png"/><Relationship Id="rId28" Type="http://schemas.openxmlformats.org/officeDocument/2006/relationships/image" Target="../media/image129.png"/><Relationship Id="rId29" Type="http://schemas.openxmlformats.org/officeDocument/2006/relationships/image" Target="../media/image130.png"/><Relationship Id="rId30" Type="http://schemas.openxmlformats.org/officeDocument/2006/relationships/image" Target="../media/image13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23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png"/><Relationship Id="rId18" Type="http://schemas.openxmlformats.org/officeDocument/2006/relationships/image" Target="../media/image39.png"/><Relationship Id="rId19" Type="http://schemas.openxmlformats.org/officeDocument/2006/relationships/image" Target="../media/image40.png"/><Relationship Id="rId20" Type="http://schemas.openxmlformats.org/officeDocument/2006/relationships/image" Target="../media/image41.png"/><Relationship Id="rId21" Type="http://schemas.openxmlformats.org/officeDocument/2006/relationships/image" Target="../media/image42.png"/><Relationship Id="rId22" Type="http://schemas.openxmlformats.org/officeDocument/2006/relationships/image" Target="../media/image43.png"/><Relationship Id="rId23" Type="http://schemas.openxmlformats.org/officeDocument/2006/relationships/image" Target="../media/image44.png"/><Relationship Id="rId24" Type="http://schemas.openxmlformats.org/officeDocument/2006/relationships/image" Target="../media/image45.png"/><Relationship Id="rId25" Type="http://schemas.openxmlformats.org/officeDocument/2006/relationships/image" Target="../media/image46.png"/><Relationship Id="rId26" Type="http://schemas.openxmlformats.org/officeDocument/2006/relationships/hyperlink" Target="https://github.com/Rengoku9000/Seecure-Mesh-pi" TargetMode="External"/><Relationship Id="rId27" Type="http://schemas.openxmlformats.org/officeDocument/2006/relationships/image" Target="../media/image47.png"/><Relationship Id="rId28" Type="http://schemas.openxmlformats.org/officeDocument/2006/relationships/hyperlink" Target="https://drive.google.com/drive/folders/1-UxildL0j9doN9G-ODa1jfODsdNM2lAn?usp=drive_link" TargetMode="External"/><Relationship Id="rId29" Type="http://schemas.openxmlformats.org/officeDocument/2006/relationships/image" Target="../media/image48.png"/><Relationship Id="rId30" Type="http://schemas.openxmlformats.org/officeDocument/2006/relationships/image" Target="../media/image134.png"/><Relationship Id="rId31" Type="http://schemas.openxmlformats.org/officeDocument/2006/relationships/image" Target="../media/image1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Relationship Id="rId17" Type="http://schemas.openxmlformats.org/officeDocument/2006/relationships/image" Target="../media/image62.png"/><Relationship Id="rId18" Type="http://schemas.openxmlformats.org/officeDocument/2006/relationships/image" Target="../media/image63.png"/><Relationship Id="rId19" Type="http://schemas.openxmlformats.org/officeDocument/2006/relationships/image" Target="../media/image64.png"/><Relationship Id="rId20" Type="http://schemas.openxmlformats.org/officeDocument/2006/relationships/image" Target="../media/image65.png"/><Relationship Id="rId21" Type="http://schemas.openxmlformats.org/officeDocument/2006/relationships/image" Target="../media/image66.png"/><Relationship Id="rId22" Type="http://schemas.openxmlformats.org/officeDocument/2006/relationships/image" Target="../media/image67.png"/><Relationship Id="rId23" Type="http://schemas.openxmlformats.org/officeDocument/2006/relationships/image" Target="../media/image68.png"/><Relationship Id="rId24" Type="http://schemas.openxmlformats.org/officeDocument/2006/relationships/image" Target="../media/image69.png"/><Relationship Id="rId25" Type="http://schemas.openxmlformats.org/officeDocument/2006/relationships/image" Target="../media/image70.png"/><Relationship Id="rId26" Type="http://schemas.openxmlformats.org/officeDocument/2006/relationships/image" Target="../media/image71.png"/><Relationship Id="rId27" Type="http://schemas.openxmlformats.org/officeDocument/2006/relationships/image" Target="../media/image72.png"/><Relationship Id="rId28" Type="http://schemas.openxmlformats.org/officeDocument/2006/relationships/image" Target="../media/image73.png"/><Relationship Id="rId29" Type="http://schemas.openxmlformats.org/officeDocument/2006/relationships/image" Target="../media/image74.png"/><Relationship Id="rId30" Type="http://schemas.openxmlformats.org/officeDocument/2006/relationships/image" Target="../media/image75.png"/><Relationship Id="rId31" Type="http://schemas.openxmlformats.org/officeDocument/2006/relationships/image" Target="../media/image76.png"/><Relationship Id="rId32" Type="http://schemas.openxmlformats.org/officeDocument/2006/relationships/image" Target="../media/image77.png"/><Relationship Id="rId33" Type="http://schemas.openxmlformats.org/officeDocument/2006/relationships/image" Target="../media/image78.png"/><Relationship Id="rId34" Type="http://schemas.openxmlformats.org/officeDocument/2006/relationships/image" Target="../media/image132.png"/><Relationship Id="rId35" Type="http://schemas.openxmlformats.org/officeDocument/2006/relationships/image" Target="../media/image133.png"/><Relationship Id="rId36" Type="http://schemas.openxmlformats.org/officeDocument/2006/relationships/image" Target="../media/image130.png"/><Relationship Id="rId37" Type="http://schemas.openxmlformats.org/officeDocument/2006/relationships/image" Target="../media/image12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9.png"/><Relationship Id="rId5" Type="http://schemas.openxmlformats.org/officeDocument/2006/relationships/image" Target="../media/image58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Relationship Id="rId24" Type="http://schemas.openxmlformats.org/officeDocument/2006/relationships/image" Target="../media/image98.png"/><Relationship Id="rId25" Type="http://schemas.openxmlformats.org/officeDocument/2006/relationships/image" Target="../media/image99.png"/><Relationship Id="rId26" Type="http://schemas.openxmlformats.org/officeDocument/2006/relationships/image" Target="../media/image100.png"/><Relationship Id="rId27" Type="http://schemas.openxmlformats.org/officeDocument/2006/relationships/image" Target="../media/image101.png"/><Relationship Id="rId28" Type="http://schemas.openxmlformats.org/officeDocument/2006/relationships/image" Target="../media/image102.png"/><Relationship Id="rId29" Type="http://schemas.openxmlformats.org/officeDocument/2006/relationships/image" Target="../media/image103.png"/><Relationship Id="rId30" Type="http://schemas.openxmlformats.org/officeDocument/2006/relationships/image" Target="../media/image104.png"/><Relationship Id="rId31" Type="http://schemas.openxmlformats.org/officeDocument/2006/relationships/image" Target="../media/image105.png"/><Relationship Id="rId32" Type="http://schemas.openxmlformats.org/officeDocument/2006/relationships/image" Target="../media/image10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07.png"/><Relationship Id="rId5" Type="http://schemas.openxmlformats.org/officeDocument/2006/relationships/hyperlink" Target="https://github.com/Rengoku9000/Secure-Mesh-V1" TargetMode="External"/><Relationship Id="rId6" Type="http://schemas.openxmlformats.org/officeDocument/2006/relationships/image" Target="../media/image108.png"/><Relationship Id="rId7" Type="http://schemas.openxmlformats.org/officeDocument/2006/relationships/image" Target="../media/image109.png"/><Relationship Id="rId8" Type="http://schemas.openxmlformats.org/officeDocument/2006/relationships/hyperlink" Target="https://libp2p.io" TargetMode="External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hyperlink" Target="https://datatracker.ietf.org/doc/rfc9000" TargetMode="External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hyperlink" Target="https://huggingface.co/Qwen/Qwen2.5-1.5B-Instruct-GGUF" TargetMode="External"/><Relationship Id="rId15" Type="http://schemas.openxmlformats.org/officeDocument/2006/relationships/image" Target="../media/image114.png"/><Relationship Id="rId16" Type="http://schemas.openxmlformats.org/officeDocument/2006/relationships/image" Target="../media/image115.png"/><Relationship Id="rId17" Type="http://schemas.openxmlformats.org/officeDocument/2006/relationships/hyperlink" Target="https://huggingface.co/CompendiumLabs/bge-small-en-v1.5-gguf" TargetMode="External"/><Relationship Id="rId18" Type="http://schemas.openxmlformats.org/officeDocument/2006/relationships/image" Target="../media/image116.png"/><Relationship Id="rId19" Type="http://schemas.openxmlformats.org/officeDocument/2006/relationships/image" Target="../media/image117.png"/><Relationship Id="rId20" Type="http://schemas.openxmlformats.org/officeDocument/2006/relationships/hyperlink" Target="https://github.com/ggerganov/llama.cpp" TargetMode="External"/><Relationship Id="rId21" Type="http://schemas.openxmlformats.org/officeDocument/2006/relationships/image" Target="../media/image118.png"/><Relationship Id="rId22" Type="http://schemas.openxmlformats.org/officeDocument/2006/relationships/image" Target="../media/image119.png"/><Relationship Id="rId23" Type="http://schemas.openxmlformats.org/officeDocument/2006/relationships/hyperlink" Target="https://raspberrypi.com/documentation" TargetMode="External"/><Relationship Id="rId24" Type="http://schemas.openxmlformats.org/officeDocument/2006/relationships/image" Target="../media/image120.png"/><Relationship Id="rId25" Type="http://schemas.openxmlformats.org/officeDocument/2006/relationships/image" Target="../media/image121.png"/><Relationship Id="rId26" Type="http://schemas.openxmlformats.org/officeDocument/2006/relationships/hyperlink" Target="https://raspberrypi.com/software/operating-systems" TargetMode="External"/><Relationship Id="rId27" Type="http://schemas.openxmlformats.org/officeDocument/2006/relationships/image" Target="../media/image122.png"/><Relationship Id="rId28" Type="http://schemas.openxmlformats.org/officeDocument/2006/relationships/image" Target="../media/image123.png"/><Relationship Id="rId29" Type="http://schemas.openxmlformats.org/officeDocument/2006/relationships/hyperlink" Target="https://optee.readthedocs.io" TargetMode="External"/><Relationship Id="rId30" Type="http://schemas.openxmlformats.org/officeDocument/2006/relationships/image" Target="../media/image124.png"/><Relationship Id="rId31" Type="http://schemas.openxmlformats.org/officeDocument/2006/relationships/image" Target="../media/image125.png"/><Relationship Id="rId32" Type="http://schemas.openxmlformats.org/officeDocument/2006/relationships/hyperlink" Target="https://trustedcomputinggroup.org" TargetMode="External"/><Relationship Id="rId33" Type="http://schemas.openxmlformats.org/officeDocument/2006/relationships/image" Target="../media/image126.png"/><Relationship Id="rId34" Type="http://schemas.openxmlformats.org/officeDocument/2006/relationships/image" Target="../media/image127.jpeg"/><Relationship Id="rId35" Type="http://schemas.openxmlformats.org/officeDocument/2006/relationships/image" Target="../media/image128.png"/><Relationship Id="rId36" Type="http://schemas.openxmlformats.org/officeDocument/2006/relationships/image" Target="../media/image136.png"/><Relationship Id="rId37" Type="http://schemas.openxmlformats.org/officeDocument/2006/relationships/image" Target="../media/image137.png"/><Relationship Id="rId38" Type="http://schemas.openxmlformats.org/officeDocument/2006/relationships/image" Target="../media/image138.png"/><Relationship Id="rId39" Type="http://schemas.openxmlformats.org/officeDocument/2006/relationships/image" Target="../media/image139.png"/><Relationship Id="rId40" Type="http://schemas.openxmlformats.org/officeDocument/2006/relationships/image" Target="../media/image140.png"/><Relationship Id="rId41" Type="http://schemas.openxmlformats.org/officeDocument/2006/relationships/image" Target="../media/image141.png"/><Relationship Id="rId42" Type="http://schemas.openxmlformats.org/officeDocument/2006/relationships/image" Target="../media/image142.png"/><Relationship Id="rId43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14440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63094" y="36456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IP-SAKTI Sahayak</a:t>
            </a:r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600" y="1587500"/>
            <a:ext cx="4826000" cy="385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SIH26045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b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 – AI-Powered Assistant for Intellectual Property, Traditional Knowledge, and Regulatory Frameworks in Ayurveda.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MedTech / Ayush / LegalTech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Category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Software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146711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OUTLAWS</a:t>
            </a:r>
            <a:endParaRPr lang="en-IN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6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47028" y="16262"/>
            <a:ext cx="9046727" cy="1162518"/>
          </a:xfrm>
        </p:spPr>
        <p:txBody>
          <a:bodyPr wrap="none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600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80" y="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960120"/>
            <a:ext cx="1145743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548640" y="1024128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B2545"/>
                </a:solidFill>
                <a:latin typeface="Segoe UI"/>
              </a:defRPr>
            </a:pPr>
            <a:r>
              <a:t>A Grounded, Sovereign AI Copilot for Ayurvedic Intellectual Property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Deterministic legal synthesis resolving the trilemma of Ayurvedic Prior Art, Section 3(p) exclusions, and trilingual equity.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503920" y="1097280"/>
            <a:ext cx="3108960" cy="502920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Zero Cloud Dependency  •  Local CPU  •  SHA-256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66" name="Picture 15365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8640" y="2057399"/>
            <a:ext cx="502920" cy="502920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143000" y="2057399"/>
            <a:ext cx="277977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Authoritative Legal Ingestion</a:t>
            </a:r>
          </a:p>
          <a:p>
            <a:pPr>
              <a:defRPr sz="900">
                <a:solidFill>
                  <a:srgbClr val="D97706"/>
                </a:solidFill>
              </a:defRPr>
            </a:pPr>
            <a:r>
              <a:t>Cryptographic integrity on primary statutes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48640" y="2651759"/>
            <a:ext cx="332841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0F172A"/>
                </a:solidFill>
              </a:rPr>
              <a:t>• Primary Statutes Ingestion: </a:t>
            </a:r>
            <a:r>
              <a:rPr sz="900">
                <a:solidFill>
                  <a:srgbClr val="475569"/>
                </a:solidFill>
              </a:rPr>
              <a:t>Direct parsing of The Patents Act 1970, Biological Diversity Act 2002/2023, and Drugs &amp; Cosmetics Act 1940.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SHA-256 Checksums: </a:t>
            </a:r>
            <a:r>
              <a:rPr sz="900">
                <a:solidFill>
                  <a:srgbClr val="475569"/>
                </a:solidFill>
              </a:rPr>
              <a:t>Prevents LLM hallucinations or phantom citations; strictly grounded in official Gazette provisions.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Pharmacopoeial Binding: </a:t>
            </a:r>
            <a:r>
              <a:rPr sz="900">
                <a:solidFill>
                  <a:srgbClr val="475569"/>
                </a:solidFill>
              </a:rPr>
              <a:t>Links classical Ayurvedic formulations directly to official Ayurvedic Pharmacopoeia (API) monographs.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242816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0" name="Picture 15369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25696" y="2057399"/>
            <a:ext cx="502920" cy="502920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5020056" y="2057399"/>
            <a:ext cx="277977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Dual-Jurisdiction Reasoner</a:t>
            </a:r>
          </a:p>
          <a:p>
            <a:pPr>
              <a:defRPr sz="900">
                <a:solidFill>
                  <a:srgbClr val="0B4F34"/>
                </a:solidFill>
              </a:defRPr>
            </a:pPr>
            <a:r>
              <a:t>Zero cross-leakage between jurisdictions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425696" y="2651759"/>
            <a:ext cx="332841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0F172A"/>
                </a:solidFill>
              </a:rPr>
              <a:t>• Strict Legal Isolation: </a:t>
            </a:r>
            <a:r>
              <a:rPr sz="900">
                <a:solidFill>
                  <a:srgbClr val="475569"/>
                </a:solidFill>
              </a:rPr>
              <a:t>Enforces clean boundaries between Indian sovereign law (Patents Act, BDA) and international treaties (WIPO, PCT, Nagoya).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Formulation vs Extract: </a:t>
            </a:r>
            <a:r>
              <a:rPr sz="900">
                <a:solidFill>
                  <a:srgbClr val="475569"/>
                </a:solidFill>
              </a:rPr>
              <a:t>Distinguishes classical polyherbal ASU remedies from novel single-herb chemical extractions.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TKDL Defensive Shield: </a:t>
            </a:r>
            <a:r>
              <a:rPr sz="900">
                <a:solidFill>
                  <a:srgbClr val="475569"/>
                </a:solidFill>
              </a:rPr>
              <a:t>Strict non-disclosure compliance; safe abstention on confidential Ayurvedic manuscripts.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8119872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74" name="Picture 15373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02752" y="2057399"/>
            <a:ext cx="502920" cy="502920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8897112" y="2057399"/>
            <a:ext cx="277977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Provenance &amp; Trilingual Delivery</a:t>
            </a:r>
          </a:p>
          <a:p>
            <a:pPr>
              <a:defRPr sz="900">
                <a:solidFill>
                  <a:srgbClr val="2563EB"/>
                </a:solidFill>
              </a:defRPr>
            </a:pPr>
            <a:r>
              <a:t>Courtroom-grade audit &amp; Indic equity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8302752" y="2651759"/>
            <a:ext cx="332841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50">
                <a:solidFill>
                  <a:srgbClr val="0F172A"/>
                </a:solidFill>
              </a:rPr>
              <a:t>• Deterministic Citations: </a:t>
            </a:r>
            <a:r>
              <a:rPr sz="900">
                <a:solidFill>
                  <a:srgbClr val="475569"/>
                </a:solidFill>
              </a:rPr>
              <a:t>Every output includes verifiable enactment dates, section numbers, gazette links, and official URLs.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Native Trilingual Engine: </a:t>
            </a:r>
            <a:r>
              <a:rPr sz="900">
                <a:solidFill>
                  <a:srgbClr val="475569"/>
                </a:solidFill>
              </a:rPr>
              <a:t>End-to-end guidance in English, Hindi (Devanagari), and Kannada with preserved statutory clauses.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F172A"/>
                </a:solidFill>
              </a:rPr>
              <a:t>• Citation Immutability: </a:t>
            </a:r>
            <a:r>
              <a:rPr sz="900">
                <a:solidFill>
                  <a:srgbClr val="475569"/>
                </a:solidFill>
              </a:rPr>
              <a:t>Legal citations (e.g. Sec 3(p), Sec 6 NBA) remain untranslated and legally pristine across all languages.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365760" y="4434840"/>
            <a:ext cx="11457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502920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502920" y="4544568"/>
            <a:ext cx="2103120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1. USER QUERY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76072" y="4818888"/>
            <a:ext cx="19568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Natural language input</a:t>
            </a:r>
            <a:br/>
            <a:r>
              <a:t>(EN / HI / KN)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2633472" y="4782312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2770632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2770632" y="4544568"/>
            <a:ext cx="2103120" cy="256032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2. INTENT &amp; JURISDICTION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2843784" y="4818888"/>
            <a:ext cx="19568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Classifies ASU vs Novel,</a:t>
            </a:r>
            <a:br/>
            <a:r>
              <a:t>India vs International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901184" y="4782312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038344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5038344" y="4544568"/>
            <a:ext cx="210312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3. DUAL RETRIEVAL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111496" y="4818888"/>
            <a:ext cx="19568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FAISS Vector Search +</a:t>
            </a:r>
            <a:br/>
            <a:r>
              <a:t>SQLite Relational WAL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7168896" y="4782312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7306056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Rounded Rectangle 15390"/>
          <p:cNvSpPr/>
          <p:nvPr/>
        </p:nvSpPr>
        <p:spPr>
          <a:xfrm>
            <a:off x="7306056" y="4544568"/>
            <a:ext cx="210312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4. EPISTEMIC VALIDATOR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7379208" y="4818888"/>
            <a:ext cx="19568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Cross-checks statutes;</a:t>
            </a:r>
            <a:br/>
            <a:r>
              <a:t>Rejects unanchored claims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9436608" y="4782312"/>
            <a:ext cx="1097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9573768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Rounded Rectangle 15394"/>
          <p:cNvSpPr/>
          <p:nvPr/>
        </p:nvSpPr>
        <p:spPr>
          <a:xfrm>
            <a:off x="9573768" y="4544568"/>
            <a:ext cx="2103120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5. AUDIT-LOCKED OUTPUT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9646920" y="4818888"/>
            <a:ext cx="195681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Grounded answer with</a:t>
            </a:r>
            <a:br/>
            <a:r>
              <a:t>verifiable gazette links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365760" y="5532120"/>
            <a:ext cx="11457432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TextBox 15397"/>
          <p:cNvSpPr txBox="1"/>
          <p:nvPr/>
        </p:nvSpPr>
        <p:spPr>
          <a:xfrm>
            <a:off x="457200" y="5541264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VERIFIED CAPABILITY: 98/98 automated tests passing  |  Runs on standard laptop CPU (&lt;1.2s latency)  |  Zero cloud dependency</a:t>
            </a:r>
          </a:p>
        </p:txBody>
      </p:sp>
    </p:spTree>
    <p:extLst>
      <p:ext uri="{BB962C8B-B14F-4D97-AF65-F5344CB8AC3E}">
        <p14:creationId xmlns:p14="http://schemas.microsoft.com/office/powerpoint/2010/main" val="359609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TECHNICAL APPROACH &amp;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/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600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005840"/>
            <a:ext cx="6309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143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End-to-End Grounded AI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554480"/>
            <a:ext cx="5852160" cy="86868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0B4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627632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4F34"/>
                </a:solidFill>
              </a:defRPr>
            </a:pPr>
            <a:r>
              <a:t>LAYER 1: PRESENTATION &amp; USER EXPERIENCE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Streamlit Web Application  •  Custom High-Contrast CSS  •  Responsive Viewport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Trilingual Query Input (EN/HI/KN)  |  Citation Inspector Drawer  |  Statutory Card Badges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587752"/>
            <a:ext cx="5852160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60904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LAYER 2: REST API &amp; EPISTEMIC REASONING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FastAPI Core Service  •  Pydantic V2 Models  •  Strict Boundary Enforcement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Query Intent Classifier  |  Formulation vs Extract Router  |  Epistemic Legal Reasoner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21024"/>
            <a:ext cx="5852160" cy="868680"/>
          </a:xfrm>
          <a:prstGeom prst="roundRect">
            <a:avLst/>
          </a:prstGeom>
          <a:solidFill>
            <a:srgbClr val="FEF3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LAYER 3: DUAL RETRIEVAL &amp; INDEXING ENGINE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Dense Vector Store + Relational Storage  •  SHA-256 Checksum Validation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FAISS Index (all-MiniLM-L6-v2 Embeddings)  |  SQLite (WAL Mode)  |  Canonical Section Anchors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54296"/>
            <a:ext cx="5852160" cy="868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27448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LAYER 4: AUTHORITATIVE STATUTORY CORPUS &amp; GUARDRAILS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Indian Sovereign Law &amp; Traditional Knowledge  •  Zero Phantom Hallucinations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The Patents Act 1970 (Sec 3(p))  |  Biological Diversity Act 2002/23  |  D&amp;C Act 1940  |  TKDL Shield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9651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115568"/>
            <a:ext cx="45079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Core Technology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4447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481328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1B365D"/>
                </a:solidFill>
              </a:rPr>
              <a:t>FRONTEND &amp; APP SHELL: </a:t>
            </a:r>
            <a:r>
              <a:rPr b="1" sz="850">
                <a:solidFill>
                  <a:srgbClr val="0B4F34"/>
                </a:solidFill>
              </a:rPr>
              <a:t>Streamlit, Python 3.11, Custom CSS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Responsive design, multi-tab drawer, instant Indic font rendering (Nirmala UI).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19019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1938528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1B365D"/>
                </a:solidFill>
              </a:rPr>
              <a:t>BACKEND &amp; REASONING: </a:t>
            </a:r>
            <a:r>
              <a:rPr b="1" sz="850">
                <a:solidFill>
                  <a:srgbClr val="0B4F34"/>
                </a:solidFill>
              </a:rPr>
              <a:t>FastAPI, Pydantic V2, Uvicorn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Modular microservice, schema validation, deterministic fallback logic.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3591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395728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1B365D"/>
                </a:solidFill>
              </a:rPr>
              <a:t>VECTOR &amp; STORAGE: </a:t>
            </a:r>
            <a:r>
              <a:rPr b="1" sz="850">
                <a:solidFill>
                  <a:srgbClr val="0B4F34"/>
                </a:solidFill>
              </a:rPr>
              <a:t>FAISS CPU, SQLite WAL, SHA-256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Sub-second dense vector indexing, ACID-compliant relational provenance logging.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8163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852928"/>
            <a:ext cx="4416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1B365D"/>
                </a:solidFill>
              </a:rPr>
              <a:t>LOCAL AI &amp; INDIC NLP: </a:t>
            </a:r>
            <a:r>
              <a:rPr b="1" sz="850">
                <a:solidFill>
                  <a:srgbClr val="0B4F34"/>
                </a:solidFill>
              </a:rPr>
              <a:t>Sentence-Transformers, all-MiniLM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Lightweight 384-d semantic embedding models running 100% on commodity CPU.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474720"/>
            <a:ext cx="49651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86600" y="3584448"/>
            <a:ext cx="45079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Empirical Validation &amp; Reproducibility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968496"/>
            <a:ext cx="1444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&lt; 1.2s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Retrieval Latency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Per complex query on standard local CPU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3968496"/>
            <a:ext cx="1444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650 MB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RAM Footprint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Ultra-lean, runs on basic laptops without GPU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3968496"/>
            <a:ext cx="1444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98 / 98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Automated Tests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100% test pass rate across all legal rules</a:t>
            </a:r>
          </a:p>
        </p:txBody>
      </p:sp>
      <p:pic>
        <p:nvPicPr>
          <p:cNvPr id="41" name="Picture 40" descr="qr_github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23760" y="4800600"/>
            <a:ext cx="749808" cy="7498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046720" y="491032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t>GitHub Repository</a:t>
            </a:r>
          </a:p>
          <a:p>
            <a:pPr>
              <a:defRPr sz="800">
                <a:solidFill>
                  <a:srgbClr val="2563EB"/>
                </a:solidFill>
              </a:defRPr>
            </a:pPr>
            <a:r>
              <a:t>Source Code &amp; Tests</a:t>
            </a:r>
          </a:p>
        </p:txBody>
      </p:sp>
      <p:pic>
        <p:nvPicPr>
          <p:cNvPr id="43" name="Picture 42" descr="qr_report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692640" y="4800600"/>
            <a:ext cx="749808" cy="7498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15600" y="4910328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t>Technical Report</a:t>
            </a:r>
          </a:p>
          <a:p>
            <a:pPr>
              <a:defRPr sz="800">
                <a:solidFill>
                  <a:srgbClr val="0B4F34"/>
                </a:solidFill>
              </a:defRPr>
            </a:pPr>
            <a: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291078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FEASIBILITY, VIABILITY &amp;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4864588-AE68-F97D-E8B2-B9FC7BE44E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600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65760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30352" y="1097280"/>
            <a:ext cx="411480" cy="4114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024128" y="1097280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B4F34"/>
                </a:solidFill>
              </a:defRPr>
            </a:pPr>
            <a:r>
              <a:t>Technical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30352" y="1490472"/>
            <a:ext cx="33649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• Commodity CPU Inference: </a:t>
            </a:r>
            <a:r>
              <a:rPr sz="800">
                <a:solidFill>
                  <a:srgbClr val="475569"/>
                </a:solidFill>
              </a:rPr>
              <a:t>Runs completely locally on standard i5/Ryzen laptops without discrete GPUs.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Sub-1.2s Latency: </a:t>
            </a:r>
            <a:r>
              <a:rPr sz="800">
                <a:solidFill>
                  <a:srgbClr val="475569"/>
                </a:solidFill>
              </a:rPr>
              <a:t>Optimized FAISS vector index provides instant query triage and citation lookup.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Offline Independence: </a:t>
            </a:r>
            <a:r>
              <a:rPr sz="800">
                <a:solidFill>
                  <a:srgbClr val="475569"/>
                </a:solidFill>
              </a:rPr>
              <a:t>Operates with zero cloud connectivity; immune to internet outages.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07408" y="1097280"/>
            <a:ext cx="411480" cy="411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01184" y="1097280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Operational &amp; Market Viability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07408" y="1490472"/>
            <a:ext cx="33649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• Zero Recurring API Costs: </a:t>
            </a:r>
            <a:r>
              <a:rPr sz="800">
                <a:solidFill>
                  <a:srgbClr val="475569"/>
                </a:solidFill>
              </a:rPr>
              <a:t>Eliminates high per-token proprietary LLM API costs for cash-constrained MSMEs.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Designed for Ayush Domain: </a:t>
            </a:r>
            <a:r>
              <a:rPr sz="800">
                <a:solidFill>
                  <a:srgbClr val="475569"/>
                </a:solidFill>
              </a:rPr>
              <a:t>Custom workflows built specifically for Vaidyas, patent attorneys, and researchers.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Non-Technical Interface: </a:t>
            </a:r>
            <a:r>
              <a:rPr sz="800">
                <a:solidFill>
                  <a:srgbClr val="475569"/>
                </a:solidFill>
              </a:rPr>
              <a:t>Intuitive web application with zero command-line or coding knowledge required.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19872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284464" y="1097280"/>
            <a:ext cx="411480" cy="41148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778240" y="1097280"/>
            <a:ext cx="291693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Regulatory &amp; Sovereign Feasibility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84464" y="1490472"/>
            <a:ext cx="336499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• CSIR-TKDL Confidentiality: </a:t>
            </a:r>
            <a:r>
              <a:rPr sz="800">
                <a:solidFill>
                  <a:srgbClr val="475569"/>
                </a:solidFill>
              </a:rPr>
              <a:t>Strict adherence to traditional knowledge non-disclosure agreements.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Indian Data Sovereignty: </a:t>
            </a:r>
            <a:r>
              <a:rPr sz="800">
                <a:solidFill>
                  <a:srgbClr val="475569"/>
                </a:solidFill>
              </a:rPr>
              <a:t>Sensitive Ayurvedic formulas and patents never leave institutional boundaries.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0F172A"/>
                </a:solidFill>
              </a:rPr>
              <a:t>• 100% Deterministic Evidence: </a:t>
            </a:r>
            <a:r>
              <a:rPr sz="800">
                <a:solidFill>
                  <a:srgbClr val="475569"/>
                </a:solidFill>
              </a:rPr>
              <a:t>Every claim backed by official Gazette enactment dates and section anchors.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256032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3" name="Picture 17422" descr="image.jpe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02920" y="2697480"/>
            <a:ext cx="2148840" cy="137160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2788920" y="2697480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Validated Working Prototype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Full-featured Streamlit user interface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Section 3(p) prior art triage &amp; evaluation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Interactive primary legal source citations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Instant English, Hindi, and Kannada answers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852160" y="2560320"/>
            <a:ext cx="5971032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6126480" y="2697480"/>
            <a:ext cx="54223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Empirical Validation Highlights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26480" y="3017520"/>
            <a:ext cx="54223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B365D"/>
                </a:solidFill>
              </a:rPr>
              <a:t>• 7 Primary Statutes: </a:t>
            </a:r>
            <a:r>
              <a:rPr sz="850">
                <a:solidFill>
                  <a:srgbClr val="475569"/>
                </a:solidFill>
              </a:rPr>
              <a:t>Patents Act 1970, Biodiversity Act 2002/23, D&amp;C Act 1940, WIPO, Nagoya, PCIM&amp;H, TKDL.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B365D"/>
                </a:solidFill>
              </a:rPr>
              <a:t>• 98 / 98 Automated Tests: </a:t>
            </a:r>
            <a:r>
              <a:rPr sz="850">
                <a:solidFill>
                  <a:srgbClr val="475569"/>
                </a:solidFill>
              </a:rPr>
              <a:t>100% deterministic test pass rate across jurisdiction routing, citation extraction, and Indic translation.</a:t>
            </a:r>
          </a:p>
          <a:p>
            <a:pPr>
              <a:spcBef>
                <a:spcPts val="300"/>
              </a:spcBef>
            </a:pPr>
            <a:r>
              <a:rPr b="1" sz="900">
                <a:solidFill>
                  <a:srgbClr val="1B365D"/>
                </a:solidFill>
              </a:rPr>
              <a:t>• &lt; 1.2s Local CPU Speed: </a:t>
            </a:r>
            <a:r>
              <a:rPr sz="850">
                <a:solidFill>
                  <a:srgbClr val="475569"/>
                </a:solidFill>
              </a:rPr>
              <a:t>Average response latency measured on standard non-GPU commodity hardware over 250 test queries.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4343400"/>
            <a:ext cx="114574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Scalability &amp; Deployment Roadmap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94360" y="4690872"/>
            <a:ext cx="3520440" cy="932688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0B4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704088" y="4745736"/>
            <a:ext cx="330098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0B4F34"/>
                </a:solidFill>
              </a:defRPr>
            </a:pPr>
            <a:r>
              <a:t>PHASE 1: WORKING PROTOTYPE (CURRENT)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SIH 2026 Milestone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Validated FastAPI backend &amp; Streamlit UI</a:t>
            </a:r>
            <a:br/>
            <a:r>
              <a:t>• 7 primary statutory corpuses indexed</a:t>
            </a:r>
            <a:br/>
            <a:r>
              <a:t>• Sub-1.2s local retrieval &amp; 98/98 tests passing</a:t>
            </a:r>
            <a:br/>
            <a:r>
              <a:t>• Native Trilingual UI (English, Hindi, Kannada)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334256" y="4690872"/>
            <a:ext cx="3520440" cy="93268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443984" y="4745736"/>
            <a:ext cx="330098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1B365D"/>
                </a:solidFill>
              </a:defRPr>
            </a:pPr>
            <a:r>
              <a:t>PHASE 2: INSTITUTIONAL PILOT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Q3 - Q4 2026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Deployment across 5 Ayush research universities</a:t>
            </a:r>
            <a:br/>
            <a:r>
              <a:t>• Formal feedback with registered patent attorneys</a:t>
            </a:r>
            <a:br/>
            <a:r>
              <a:t>• State Biodiversity Board ABS fee calculator</a:t>
            </a:r>
            <a:br/>
            <a:r>
              <a:t>• Accuracy &amp; latency stress-testing at scale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074152" y="4690872"/>
            <a:ext cx="3520440" cy="932688"/>
          </a:xfrm>
          <a:prstGeom prst="roundRect">
            <a:avLst/>
          </a:prstGeom>
          <a:solidFill>
            <a:srgbClr val="FEF3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183880" y="4745736"/>
            <a:ext cx="3300984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</a:defRPr>
            </a:pPr>
            <a:r>
              <a:t>PHASE 3: NATIONAL SCALE &amp; EXPANSION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2027 &amp; Beyond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Direct integration with National Ayush Mission</a:t>
            </a:r>
            <a:br/>
            <a:r>
              <a:t>• Automated IPO weekly gazette synchronization</a:t>
            </a:r>
            <a:br/>
            <a:r>
              <a:t>• Quantized edge SLMs (4-bit Qwen on-device)</a:t>
            </a:r>
            <a:br/>
            <a:r>
              <a:t>• Expansion to Tamil, Telugu, and Marathi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IMPACT, BENEFITS &amp; STAKEHOLDERS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95AF433-6E91-BD54-F1A8-1AF4CED841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600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65760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97280"/>
            <a:ext cx="1188720" cy="9144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783080" y="1097280"/>
            <a:ext cx="21396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Bio-Piracy Defense &amp; Sovereignty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2075688"/>
            <a:ext cx="34198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Shields Indian traditional knowledge from wrongful international patenting by equipping patent agents with instant prior art and Section 3(p) defense.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976" y="1097280"/>
            <a:ext cx="1188720" cy="91440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5660136" y="1097280"/>
            <a:ext cx="21396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Accelerated Ayush R&amp;D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79976" y="2075688"/>
            <a:ext cx="34198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Slashes prior art and regulatory clearance search time from 2–3 weeks to under 2 seconds, accelerating Ayurvedic drug discovery and IP filing.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19872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7032" y="1097280"/>
            <a:ext cx="1188720" cy="91440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537192" y="1097280"/>
            <a:ext cx="21396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Grassroots Language Equity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57032" y="2075688"/>
            <a:ext cx="341985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Democratizes complex intellectual property frameworks for traditional healers, farmers, and MSMEs through native Hindi and Kannada guidance.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3" name="Picture 174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" y="3017520"/>
            <a:ext cx="822960" cy="82296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1417320" y="30175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Ayush Researchers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Evaluate Novelty Instantly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390448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Screen novel botanical compounds against Section 3(p) exclusions and scientific literature before investing in clinical trials.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64408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7" name="Picture 174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01568" y="3017520"/>
            <a:ext cx="822960" cy="82296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4315968" y="30175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Patent Attorneys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Courtroom-Grade Citations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401568" y="390448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Rapid prior-art discovery, statutory defense drafting, and compliance verification across international patent treaties.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63056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1" name="Picture 174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0216" y="3017520"/>
            <a:ext cx="822960" cy="82296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214616" y="30175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Herbal MSMEs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Streamlined ASU Compliance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300216" y="390448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Clear guidance on Drugs &amp; Cosmetics Act licensing, Ayurvedic Pharmacopoeia standards, and State Biodiversity Board approvals.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061704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5" name="Picture 174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98864" y="3017520"/>
            <a:ext cx="822960" cy="82296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0113264" y="3017520"/>
            <a:ext cx="1600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Traditional Healers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Community IP Protection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198864" y="3904488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Native-language access in Hindi &amp; Kannada protects local agricultural biodiversity and community intellectual property rights.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65760" y="4892040"/>
            <a:ext cx="1145743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502920" y="5001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100% Offline-Capable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Zero reliance on external cloud servers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788920" y="5001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Zero Recurring GPU Cost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Runs on standard commodity laptop CPU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074920" y="5001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Deterministic Citations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Directly anchored to official Gazettes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360920" y="5001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Cross-Statute Synthesis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Harmonizes Patents Act, BDA &amp; D&amp;C Act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646920" y="5001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Trilingual Equity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Native English, Hindi, and Kannada answers</a:t>
            </a:r>
          </a:p>
        </p:txBody>
      </p:sp>
    </p:spTree>
    <p:extLst>
      <p:ext uri="{BB962C8B-B14F-4D97-AF65-F5344CB8AC3E}">
        <p14:creationId xmlns:p14="http://schemas.microsoft.com/office/powerpoint/2010/main" val="175162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RESEARCH, REFERENCES &amp;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b="1" sz="1600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005840"/>
            <a:ext cx="5943600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07899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1. Indian Sovereign Statutes &amp; Regulatory Authorities</a:t>
            </a:r>
          </a:p>
        </p:txBody>
      </p:sp>
      <p:pic>
        <p:nvPicPr>
          <p:cNvPr id="15" name="Picture 14" descr="qr_ipindia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8640" y="1353312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1353312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The Patents Act, 1970 (Sec 3(p) &amp; 10) — </a:t>
            </a:r>
            <a:r>
              <a:rPr sz="800">
                <a:solidFill>
                  <a:srgbClr val="2563EB"/>
                </a:solidFill>
              </a:rPr>
              <a:t>ipindia.gov.in</a:t>
            </a:r>
          </a:p>
        </p:txBody>
      </p:sp>
      <p:pic>
        <p:nvPicPr>
          <p:cNvPr id="17" name="Picture 16" descr="qr_nba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48640" y="1773936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1773936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The Biological Diversity Act, 2002 &amp; 2023 — </a:t>
            </a:r>
            <a:r>
              <a:rPr sz="800">
                <a:solidFill>
                  <a:srgbClr val="2563EB"/>
                </a:solidFill>
              </a:rPr>
              <a:t>nbaindia.org</a:t>
            </a:r>
          </a:p>
        </p:txBody>
      </p:sp>
      <p:pic>
        <p:nvPicPr>
          <p:cNvPr id="19" name="Picture 18" descr="qr_ayush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48640" y="2194560"/>
            <a:ext cx="347472" cy="3474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87552" y="2194560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Drugs &amp; Cosmetics Act, 1940 (ASU Rules) — </a:t>
            </a:r>
            <a:r>
              <a:rPr sz="800">
                <a:solidFill>
                  <a:srgbClr val="2563EB"/>
                </a:solidFill>
              </a:rPr>
              <a:t>ayush.gov.in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798064"/>
            <a:ext cx="5943600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7121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2. Multilateral Treaties &amp; Traditional Knowledge</a:t>
            </a:r>
          </a:p>
        </p:txBody>
      </p:sp>
      <p:pic>
        <p:nvPicPr>
          <p:cNvPr id="23" name="Picture 22" descr="qr_wipo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48640" y="3145536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7552" y="3145536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WIPO GRATK Treaty (2024 Mandatory Disclosure) — </a:t>
            </a:r>
            <a:r>
              <a:rPr sz="800">
                <a:solidFill>
                  <a:srgbClr val="2563EB"/>
                </a:solidFill>
              </a:rPr>
              <a:t>wipo.int</a:t>
            </a:r>
          </a:p>
        </p:txBody>
      </p:sp>
      <p:pic>
        <p:nvPicPr>
          <p:cNvPr id="25" name="Picture 24" descr="qr_nagoya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48640" y="3566160"/>
            <a:ext cx="347472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7552" y="3566160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Nagoya Protocol on Access &amp; Benefit-Sharing — </a:t>
            </a:r>
            <a:r>
              <a:rPr sz="800">
                <a:solidFill>
                  <a:srgbClr val="2563EB"/>
                </a:solidFill>
              </a:rPr>
              <a:t>cbd.int</a:t>
            </a:r>
          </a:p>
        </p:txBody>
      </p:sp>
      <p:pic>
        <p:nvPicPr>
          <p:cNvPr id="27" name="Picture 26" descr="qr_pcimh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48640" y="3986784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87552" y="398678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PCIM&amp;H Standards &amp; CSIR-TKDL Guidelines — </a:t>
            </a:r>
            <a:r>
              <a:rPr sz="800">
                <a:solidFill>
                  <a:srgbClr val="2563EB"/>
                </a:solidFill>
              </a:rPr>
              <a:t>pcimh.gov.in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90288"/>
            <a:ext cx="594360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3. Open-Source AI Stack &amp; Project Repository</a:t>
            </a:r>
          </a:p>
        </p:txBody>
      </p:sp>
      <p:pic>
        <p:nvPicPr>
          <p:cNvPr id="31" name="Picture 30" descr="qr_hf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48640" y="4937760"/>
            <a:ext cx="347472" cy="3474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87552" y="4937760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FAISS Dense Vector Index &amp; Sentence-Transformers — </a:t>
            </a:r>
            <a:r>
              <a:rPr sz="800">
                <a:solidFill>
                  <a:srgbClr val="2563EB"/>
                </a:solidFill>
              </a:rPr>
              <a:t>huggingface.co</a:t>
            </a:r>
          </a:p>
        </p:txBody>
      </p:sp>
      <p:pic>
        <p:nvPicPr>
          <p:cNvPr id="33" name="Picture 32" descr="qr_github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48640" y="5358384"/>
            <a:ext cx="347472" cy="34747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87552" y="5358384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IP-SAKTI Sahayak GitHub Repository — </a:t>
            </a:r>
            <a:r>
              <a:rPr sz="800">
                <a:solidFill>
                  <a:srgbClr val="2563EB"/>
                </a:solidFill>
              </a:rPr>
              <a:t>github.com/Rengoku9000/Drugvista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1005840"/>
            <a:ext cx="533095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1115568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Working Prototype UI — Live Verification</a:t>
            </a:r>
          </a:p>
        </p:txBody>
      </p:sp>
      <p:pic>
        <p:nvPicPr>
          <p:cNvPr id="37" name="Picture 36" descr="image.jpe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720840" y="1444752"/>
            <a:ext cx="4873752" cy="301752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720840" y="4553712"/>
            <a:ext cx="4873752" cy="10241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4626864"/>
            <a:ext cx="459943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Prototype Specifications &amp; Operational Guarantees: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Streamlit reactive frontend with instant trilingual tab switching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Deterministic citation drawer linking directly to Gazette enactments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Sub-1.2 second response latency on local commodity CPU (Zero GPU needed)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98/98 unit and regression tests passing with full test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8171</TotalTime>
  <Words>1336</Words>
  <Application>Microsoft Office PowerPoint</Application>
  <PresentationFormat>Widescreen</PresentationFormat>
  <Paragraphs>322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Arial</vt:lpstr>
      <vt:lpstr>Bahnschrift SemiBold</vt:lpstr>
      <vt:lpstr>Bahnschrift SemiBold Condensed</vt:lpstr>
      <vt:lpstr>Calibri</vt:lpstr>
      <vt:lpstr>Garamond</vt:lpstr>
      <vt:lpstr>Georgia</vt:lpstr>
      <vt:lpstr>Impact</vt:lpstr>
      <vt:lpstr>Segoe UI</vt:lpstr>
      <vt:lpstr>Times New Roman</vt:lpstr>
      <vt:lpstr>TradeGothic</vt:lpstr>
      <vt:lpstr>Office Theme</vt:lpstr>
      <vt:lpstr>SMART INDIA HACKATHON 2026</vt:lpstr>
      <vt:lpstr>SecureMesh – Private, Offline, Trusted, Intelligent</vt:lpstr>
      <vt:lpstr>TECHNICAL APPROACH</vt:lpstr>
      <vt:lpstr>FEASIBILITY AND VIABILITY</vt:lpstr>
      <vt:lpstr>IMPACT AND BENEFITS</vt:lpstr>
      <vt:lpstr>RESEARCH &amp;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Kunal Kumar</cp:lastModifiedBy>
  <cp:revision>190</cp:revision>
  <dcterms:created xsi:type="dcterms:W3CDTF">2013-12-12T18:46:50Z</dcterms:created>
  <dcterms:modified xsi:type="dcterms:W3CDTF">2026-09-26T11:30:58Z</dcterms:modified>
  <cp:category/>
</cp:coreProperties>
</file>
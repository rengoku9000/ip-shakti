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9" r:id="rId3"/>
    <p:sldId id="297" r:id="rId4"/>
    <p:sldId id="293" r:id="rId5"/>
    <p:sldId id="298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FE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 autoAdjust="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918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9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4786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drive.google.com/drive/folders/1nfDT2fVEXlzJ61C37zGnA_zNBlg5g-mK?usp=drive_lin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github.com/Rengoku9000/ip-shakti.git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6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214440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63094" y="36456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IP-SAKTI Sahayak</a:t>
            </a:r>
            <a:endParaRPr lang="en-IN" b="1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6600" y="1587500"/>
            <a:ext cx="4826000" cy="38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SIH26045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b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Innovation – AI-Powered Assistant for Intellectual Property, Traditional Knowledge, and Regulatory Frameworks in Ayurveda.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MedTech / Ayush / LegalTech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 Category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Software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rPr lang="en-US" b="1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ID</a:t>
            </a:r>
            <a:r>
              <a:rPr lang="en-US" dirty="0">
                <a:solidFill>
                  <a:srgbClr val="11111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146711</a:t>
            </a:r>
          </a:p>
          <a:p>
            <a:pPr marL="254000" indent="-254000">
              <a:lnSpc>
                <a:spcPct val="105000"/>
              </a:lnSpc>
              <a:spcAft>
                <a:spcPts val="1800"/>
              </a:spcAft>
              <a:buFont typeface="+mj-lt"/>
              <a:buChar char="•"/>
            </a:pPr>
            <a:r>
              <a:t>Team Name – OUTLAWS</a:t>
            </a:r>
            <a:endParaRPr lang="en-IN" dirty="0">
              <a:solidFill>
                <a:srgbClr val="11111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66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147028" y="16262"/>
            <a:ext cx="9046727" cy="1162518"/>
          </a:xfrm>
        </p:spPr>
        <p:txBody>
          <a:bodyPr wrap="none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4080" y="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365760" y="960120"/>
            <a:ext cx="1145743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3" name="TextBox 15362"/>
          <p:cNvSpPr txBox="1"/>
          <p:nvPr/>
        </p:nvSpPr>
        <p:spPr>
          <a:xfrm>
            <a:off x="548640" y="102412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2545"/>
                </a:solidFill>
                <a:latin typeface="Segoe UI"/>
              </a:defRPr>
            </a:pPr>
            <a:r>
              <a:t>A Grounded, Sovereign AI Copilot for Ayurvedic Intellectual Property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Deterministic legal synthesis resolving the trilemma of Ayurvedic Prior Art, Section 3(p) exclusions, and trilingual equity.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8503920" y="1097280"/>
            <a:ext cx="3108960" cy="502920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Zero Cloud Dependency  •  Local CPU  •  SHA-256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65760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6" name="Picture 1536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57399"/>
            <a:ext cx="502920" cy="502920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143000" y="2057399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Authoritative Legal Ingestion</a:t>
            </a:r>
          </a:p>
          <a:p>
            <a:pPr>
              <a:defRPr sz="900">
                <a:solidFill>
                  <a:srgbClr val="D97706"/>
                </a:solidFill>
              </a:defRPr>
            </a:pPr>
            <a:r>
              <a:t>Cryptographic integrity on primary statutes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548640" y="2651759"/>
            <a:ext cx="332841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• Primary Statutes Ingestion: </a:t>
            </a:r>
            <a:r>
              <a:rPr sz="900">
                <a:solidFill>
                  <a:srgbClr val="475569"/>
                </a:solidFill>
              </a:rPr>
              <a:t>Direct parsing of The Patents Act 1970, Biological Diversity Act 2002/2023, and Drugs &amp; Cosmetics Act 1940.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SHA-256 Checksums: </a:t>
            </a:r>
            <a:r>
              <a:rPr sz="900">
                <a:solidFill>
                  <a:srgbClr val="475569"/>
                </a:solidFill>
              </a:rPr>
              <a:t>Prevents LLM hallucinations or phantom citations; strictly grounded in official Gazette provisions.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Pharmacopoeial Binding: </a:t>
            </a:r>
            <a:r>
              <a:rPr sz="900">
                <a:solidFill>
                  <a:srgbClr val="475569"/>
                </a:solidFill>
              </a:rPr>
              <a:t>Links classical Ayurvedic formulations directly to official Ayurvedic Pharmacopoeia (API) monographs.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242816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0" name="Picture 1536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696" y="2057399"/>
            <a:ext cx="502920" cy="502920"/>
          </a:xfrm>
          <a:prstGeom prst="rect">
            <a:avLst/>
          </a:prstGeom>
        </p:spPr>
      </p:pic>
      <p:sp>
        <p:nvSpPr>
          <p:cNvPr id="15371" name="TextBox 15370"/>
          <p:cNvSpPr txBox="1"/>
          <p:nvPr/>
        </p:nvSpPr>
        <p:spPr>
          <a:xfrm>
            <a:off x="5020056" y="2057399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Dual-Jurisdiction Reasoner</a:t>
            </a:r>
          </a:p>
          <a:p>
            <a:pPr>
              <a:defRPr sz="900">
                <a:solidFill>
                  <a:srgbClr val="0B4F34"/>
                </a:solidFill>
              </a:defRPr>
            </a:pPr>
            <a:r>
              <a:t>Zero cross-leakage between jurisdictions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425696" y="2651759"/>
            <a:ext cx="332841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• Strict Legal Isolation: </a:t>
            </a:r>
            <a:r>
              <a:rPr sz="900">
                <a:solidFill>
                  <a:srgbClr val="475569"/>
                </a:solidFill>
              </a:rPr>
              <a:t>Enforces clean boundaries between Indian sovereign law (Patents Act, BDA) and international treaties (WIPO, PCT, Nagoya).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Formulation vs Extract: </a:t>
            </a:r>
            <a:r>
              <a:rPr sz="900">
                <a:solidFill>
                  <a:srgbClr val="475569"/>
                </a:solidFill>
              </a:rPr>
              <a:t>Distinguishes classical polyherbal ASU remedies from novel single-herb chemical extractions.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TKDL Defensive Shield: </a:t>
            </a:r>
            <a:r>
              <a:rPr sz="900">
                <a:solidFill>
                  <a:srgbClr val="475569"/>
                </a:solidFill>
              </a:rPr>
              <a:t>Strict non-disclosure compliance; safe abstention on confidential Ayurvedic manuscripts.</a:t>
            </a:r>
          </a:p>
        </p:txBody>
      </p:sp>
      <p:sp>
        <p:nvSpPr>
          <p:cNvPr id="15373" name="Rounded Rectangle 15372"/>
          <p:cNvSpPr/>
          <p:nvPr/>
        </p:nvSpPr>
        <p:spPr>
          <a:xfrm>
            <a:off x="8119872" y="1874519"/>
            <a:ext cx="369417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4" name="Picture 1537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2057399"/>
            <a:ext cx="502920" cy="502920"/>
          </a:xfrm>
          <a:prstGeom prst="rect">
            <a:avLst/>
          </a:prstGeom>
        </p:spPr>
      </p:pic>
      <p:sp>
        <p:nvSpPr>
          <p:cNvPr id="15375" name="TextBox 15374"/>
          <p:cNvSpPr txBox="1"/>
          <p:nvPr/>
        </p:nvSpPr>
        <p:spPr>
          <a:xfrm>
            <a:off x="8897112" y="2057399"/>
            <a:ext cx="277977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50" b="1">
                <a:solidFill>
                  <a:srgbClr val="0B2545"/>
                </a:solidFill>
              </a:defRPr>
            </a:pPr>
            <a:r>
              <a:t>Provenance &amp; Trilingual Delivery</a:t>
            </a:r>
          </a:p>
          <a:p>
            <a:pPr>
              <a:defRPr sz="900">
                <a:solidFill>
                  <a:srgbClr val="2563EB"/>
                </a:solidFill>
              </a:defRPr>
            </a:pPr>
            <a:r>
              <a:t>Courtroom-grade audit &amp; Indic equity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8302752" y="2651759"/>
            <a:ext cx="3328416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F172A"/>
                </a:solidFill>
              </a:rPr>
              <a:t>• Deterministic Citations: </a:t>
            </a:r>
            <a:r>
              <a:rPr sz="900">
                <a:solidFill>
                  <a:srgbClr val="475569"/>
                </a:solidFill>
              </a:rPr>
              <a:t>Every output includes verifiable enactment dates, section numbers, gazette links, and official URLs.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Native Trilingual Engine: </a:t>
            </a:r>
            <a:r>
              <a:rPr sz="900">
                <a:solidFill>
                  <a:srgbClr val="475569"/>
                </a:solidFill>
              </a:rPr>
              <a:t>End-to-end guidance in English, Hindi (Devanagari), and Kannada with preserved statutory clauses.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F172A"/>
                </a:solidFill>
              </a:rPr>
              <a:t>• Citation Immutability: </a:t>
            </a:r>
            <a:r>
              <a:rPr sz="900">
                <a:solidFill>
                  <a:srgbClr val="475569"/>
                </a:solidFill>
              </a:rPr>
              <a:t>Legal citations (e.g. Sec 3(p), Sec 6 NBA) remain untranslated and legally pristine across all languages.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365760" y="4434840"/>
            <a:ext cx="1145743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8" name="Rounded Rectangle 15377"/>
          <p:cNvSpPr/>
          <p:nvPr/>
        </p:nvSpPr>
        <p:spPr>
          <a:xfrm>
            <a:off x="502920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9" name="Rounded Rectangle 15378"/>
          <p:cNvSpPr/>
          <p:nvPr/>
        </p:nvSpPr>
        <p:spPr>
          <a:xfrm>
            <a:off x="502920" y="4544568"/>
            <a:ext cx="2103120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1. USER QUERY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76072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Natural language input</a:t>
            </a:r>
            <a:br/>
            <a:r>
              <a:t>(EN / HI / KN)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2633472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82" name="Rounded Rectangle 15381"/>
          <p:cNvSpPr/>
          <p:nvPr/>
        </p:nvSpPr>
        <p:spPr>
          <a:xfrm>
            <a:off x="2770632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3" name="Rounded Rectangle 15382"/>
          <p:cNvSpPr/>
          <p:nvPr/>
        </p:nvSpPr>
        <p:spPr>
          <a:xfrm>
            <a:off x="2770632" y="4544568"/>
            <a:ext cx="2103120" cy="256032"/>
          </a:xfrm>
          <a:prstGeom prst="round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2. INTENT &amp; JURISDICTION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2843784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Classifies ASU vs Novel,</a:t>
            </a:r>
            <a:br/>
            <a:r>
              <a:t>India vs International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901184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5038344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7" name="Rounded Rectangle 15386"/>
          <p:cNvSpPr/>
          <p:nvPr/>
        </p:nvSpPr>
        <p:spPr>
          <a:xfrm>
            <a:off x="5038344" y="4544568"/>
            <a:ext cx="2103120" cy="25603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3. DUAL RETRIEVAL</a:t>
            </a:r>
          </a:p>
        </p:txBody>
      </p:sp>
      <p:sp>
        <p:nvSpPr>
          <p:cNvPr id="15388" name="TextBox 15387"/>
          <p:cNvSpPr txBox="1"/>
          <p:nvPr/>
        </p:nvSpPr>
        <p:spPr>
          <a:xfrm>
            <a:off x="5111496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FAISS Vector Search +</a:t>
            </a:r>
            <a:br/>
            <a:r>
              <a:t>SQLite Relational WAL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7168896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7306056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1" name="Rounded Rectangle 15390"/>
          <p:cNvSpPr/>
          <p:nvPr/>
        </p:nvSpPr>
        <p:spPr>
          <a:xfrm>
            <a:off x="7306056" y="4544568"/>
            <a:ext cx="2103120" cy="25603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4. EPISTEMIC VALIDATOR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7379208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Cross-checks statutes;</a:t>
            </a:r>
            <a:br/>
            <a:r>
              <a:t>Rejects unanchored claims</a:t>
            </a:r>
          </a:p>
        </p:txBody>
      </p:sp>
      <p:sp>
        <p:nvSpPr>
          <p:cNvPr id="15393" name="TextBox 15392"/>
          <p:cNvSpPr txBox="1"/>
          <p:nvPr/>
        </p:nvSpPr>
        <p:spPr>
          <a:xfrm>
            <a:off x="9436608" y="4782312"/>
            <a:ext cx="1097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475569"/>
                </a:solidFill>
              </a:defRPr>
            </a:pPr>
            <a:r>
              <a:t>➔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9573768" y="4544568"/>
            <a:ext cx="210312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5" name="Rounded Rectangle 15394"/>
          <p:cNvSpPr/>
          <p:nvPr/>
        </p:nvSpPr>
        <p:spPr>
          <a:xfrm>
            <a:off x="9573768" y="4544568"/>
            <a:ext cx="2103120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5. AUDIT-LOCKED OUTPUT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9646920" y="4818888"/>
            <a:ext cx="195681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>
                <a:solidFill>
                  <a:srgbClr val="0F172A"/>
                </a:solidFill>
              </a:defRPr>
            </a:pPr>
            <a:r>
              <a:t>Grounded answer with</a:t>
            </a:r>
            <a:br/>
            <a:r>
              <a:t>verifiable gazette links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365760" y="5532120"/>
            <a:ext cx="11457432" cy="256032"/>
          </a:xfrm>
          <a:prstGeom prst="roundRect">
            <a:avLst/>
          </a:prstGeom>
          <a:solidFill>
            <a:srgbClr val="0B4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98" name="TextBox 15397"/>
          <p:cNvSpPr txBox="1"/>
          <p:nvPr/>
        </p:nvSpPr>
        <p:spPr>
          <a:xfrm>
            <a:off x="457200" y="5541264"/>
            <a:ext cx="1127455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VERIFIED CAPABILITY: 98/98 automated tests passing  |  Runs on standard laptop CPU (&lt;1.2s latency)  |  Zero cloud dependency</a:t>
            </a:r>
          </a:p>
        </p:txBody>
      </p:sp>
    </p:spTree>
    <p:extLst>
      <p:ext uri="{BB962C8B-B14F-4D97-AF65-F5344CB8AC3E}">
        <p14:creationId xmlns:p14="http://schemas.microsoft.com/office/powerpoint/2010/main" val="3596091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TECHNICAL APPROACH &amp; ARCHITECTURE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 descr="Your startup LOGO"/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005840"/>
            <a:ext cx="630936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14300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End-to-End Grounded AI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1554480"/>
            <a:ext cx="5852160" cy="868680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0B4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1627632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4F34"/>
                </a:solidFill>
              </a:defRPr>
            </a:pPr>
            <a:r>
              <a:t>LAYER 1: PRESENTATION &amp; USER EXPERIENCE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Streamlit Web Application  •  Custom High-Contrast CSS  •  Responsive Viewport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Trilingual Query Input (EN/HI/KN)  |  Citation Inspector Drawer  |  Statutory Card Badges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587752"/>
            <a:ext cx="5852160" cy="8686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2660904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LAYER 2: REST API &amp; EPISTEMIC REASONING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FastAPI Core Service  •  Pydantic V2 Models  •  Strict Boundary Enforcement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Query Intent Classifier  |  Formulation vs Extract Router  |  Epistemic Legal Reasoner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21024"/>
            <a:ext cx="5852160" cy="868680"/>
          </a:xfrm>
          <a:prstGeom prst="roundRect">
            <a:avLst/>
          </a:prstGeom>
          <a:solidFill>
            <a:srgbClr val="FEF3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LAYER 3: DUAL RETRIEVAL &amp; INDEXING ENGINE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Dense Vector Store + Relational Storage  •  SHA-256 Checksum Validation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FAISS Index (all-MiniLM-L6-v2 Embeddings)  |  SQLite (WAL Mode)  |  Canonical Section Anchors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54296"/>
            <a:ext cx="5852160" cy="868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55778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LAYER 4: AUTHORITATIVE STATUTORY CORPUS &amp; GUARDRAILS</a:t>
            </a:r>
          </a:p>
          <a:p>
            <a:pPr>
              <a:defRPr sz="850" b="1">
                <a:solidFill>
                  <a:srgbClr val="0F172A"/>
                </a:solidFill>
              </a:defRPr>
            </a:pPr>
            <a:r>
              <a:t>Indian Sovereign Law &amp; Traditional Knowledge  •  Zero Phantom Hallucinations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The Patents Act 1970 (Sec 3(p))  |  Biological Diversity Act 2002/23  |  D&amp;C Act 1940  |  TKDL Shield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005840"/>
            <a:ext cx="4965192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86600" y="1115568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Core Technology Stack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14447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0" y="14813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FRONTEND &amp; APP SHELL: </a:t>
            </a:r>
            <a:r>
              <a:rPr sz="850" b="1">
                <a:solidFill>
                  <a:srgbClr val="0B4F34"/>
                </a:solidFill>
              </a:rPr>
              <a:t>Streamlit, Python 3.11, Custom CSS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Responsive design, multi-tab drawer, instant Indic font rendering (Nirmala UI).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19019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0" y="19385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BACKEND &amp; REASONING: </a:t>
            </a:r>
            <a:r>
              <a:rPr sz="850" b="1">
                <a:solidFill>
                  <a:srgbClr val="0B4F34"/>
                </a:solidFill>
              </a:rPr>
              <a:t>FastAPI, Pydantic V2, Uvicorn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Modular microservice, schema validation, deterministic fallback logic.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3591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0" y="23957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VECTOR &amp; STORAGE: </a:t>
            </a:r>
            <a:r>
              <a:rPr sz="850" b="1">
                <a:solidFill>
                  <a:srgbClr val="0B4F34"/>
                </a:solidFill>
              </a:rPr>
              <a:t>FAISS CPU, SQLite WAL, SHA-256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Sub-second dense vector indexing, ACID-compliant relational provenance logging.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816352"/>
            <a:ext cx="4599432" cy="411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0" y="2852928"/>
            <a:ext cx="44165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B365D"/>
                </a:solidFill>
              </a:rPr>
              <a:t>LOCAL AI &amp; INDIC NLP: </a:t>
            </a:r>
            <a:r>
              <a:rPr sz="850" b="1">
                <a:solidFill>
                  <a:srgbClr val="0B4F34"/>
                </a:solidFill>
              </a:rPr>
              <a:t>Sentence-Transformers, all-MiniLM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Lightweight 384-d semantic embedding models running 100% on commodity CPU.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474720"/>
            <a:ext cx="4965192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86600" y="3584448"/>
            <a:ext cx="45079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Empirical Validation &amp; Reproducibility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40880" y="3968496"/>
            <a:ext cx="1444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&lt; 1.2s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Retrieval Latency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Per complex query on standard local CPU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9536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95360" y="3968496"/>
            <a:ext cx="1444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650 MB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RAM Footprint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Ultra-lean, runs on basic laptops without GPU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3913632"/>
            <a:ext cx="144475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149840" y="3968496"/>
            <a:ext cx="1444752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>
                <a:solidFill>
                  <a:srgbClr val="0B4F34"/>
                </a:solidFill>
              </a:defRPr>
            </a:pPr>
            <a:r>
              <a:t>98 / 98</a:t>
            </a:r>
          </a:p>
          <a:p>
            <a:pPr algn="ctr">
              <a:defRPr sz="800" b="1">
                <a:solidFill>
                  <a:srgbClr val="0B2545"/>
                </a:solidFill>
              </a:defRPr>
            </a:pPr>
            <a:r>
              <a:t>Automated Tests</a:t>
            </a:r>
          </a:p>
          <a:p>
            <a:pPr algn="ctr">
              <a:defRPr sz="650">
                <a:solidFill>
                  <a:srgbClr val="475569"/>
                </a:solidFill>
              </a:defRPr>
            </a:pPr>
            <a:r>
              <a:t>100% test pass rate across all legal rules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4800600"/>
            <a:ext cx="749808" cy="74980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046720" y="4910328"/>
            <a:ext cx="1645920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rPr dirty="0"/>
              <a:t>GitHub Repository</a:t>
            </a:r>
            <a:br>
              <a:rPr lang="en-IN" dirty="0"/>
            </a:br>
            <a:r>
              <a:rPr lang="en-IN" dirty="0">
                <a:hlinkClick r:id="rId5"/>
              </a:rPr>
              <a:t>https://github.com/Rengoku9000/ip-shakti.git</a:t>
            </a:r>
            <a:endParaRPr dirty="0"/>
          </a:p>
        </p:txBody>
      </p:sp>
      <p:pic>
        <p:nvPicPr>
          <p:cNvPr id="43" name="Picture 42" descr="qr_repo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4800600"/>
            <a:ext cx="749808" cy="74980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424160" y="4910329"/>
            <a:ext cx="1399032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2545"/>
                </a:solidFill>
              </a:defRPr>
            </a:pPr>
            <a:r>
              <a:rPr dirty="0"/>
              <a:t>Project Report</a:t>
            </a:r>
            <a:br>
              <a:rPr lang="en-IN" dirty="0"/>
            </a:br>
            <a:r>
              <a:rPr lang="en-IN" sz="800" dirty="0">
                <a:hlinkClick r:id="rId7"/>
              </a:rPr>
              <a:t>https://drive.google.com/drive/folders/1nfDT2fVEXlzJ61C37zGnA_zNBlg5g-mK?usp=drive_link</a:t>
            </a:r>
            <a:endParaRPr sz="800" dirty="0"/>
          </a:p>
        </p:txBody>
      </p:sp>
    </p:spTree>
    <p:extLst>
      <p:ext uri="{BB962C8B-B14F-4D97-AF65-F5344CB8AC3E}">
        <p14:creationId xmlns:p14="http://schemas.microsoft.com/office/powerpoint/2010/main" val="2910784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FEASIBILITY, VIABILITY &amp; ROADMAP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74864588-AE68-F97D-E8B2-B9FC7BE44EF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097280"/>
            <a:ext cx="411480" cy="41148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024128" y="1097280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B4F34"/>
                </a:solidFill>
              </a:defRPr>
            </a:pPr>
            <a:r>
              <a:t>Technical Feasibility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30352" y="1490472"/>
            <a:ext cx="336499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• Commodity CPU Inference: </a:t>
            </a:r>
            <a:r>
              <a:rPr sz="800">
                <a:solidFill>
                  <a:srgbClr val="475569"/>
                </a:solidFill>
              </a:rPr>
              <a:t>Runs completely locally on standard i5/Ryzen laptops without discrete GPUs.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Sub-1.2s Latency: </a:t>
            </a:r>
            <a:r>
              <a:rPr sz="800">
                <a:solidFill>
                  <a:srgbClr val="475569"/>
                </a:solidFill>
              </a:rPr>
              <a:t>Optimized FAISS vector index provides instant query triage and citation lookup.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Offline Independence: </a:t>
            </a:r>
            <a:r>
              <a:rPr sz="800">
                <a:solidFill>
                  <a:srgbClr val="475569"/>
                </a:solidFill>
              </a:rPr>
              <a:t>Operates with zero cloud connectivity; immune to internet outages.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7408" y="1097280"/>
            <a:ext cx="411480" cy="41148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4901184" y="1097280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Operational &amp; Market Viability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407408" y="1490472"/>
            <a:ext cx="336499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• Zero Recurring API Costs: </a:t>
            </a:r>
            <a:r>
              <a:rPr sz="800">
                <a:solidFill>
                  <a:srgbClr val="475569"/>
                </a:solidFill>
              </a:rPr>
              <a:t>Eliminates high per-token proprietary LLM API costs for cash-constrained MSMEs.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Designed for Ayush Domain: </a:t>
            </a:r>
            <a:r>
              <a:rPr sz="800">
                <a:solidFill>
                  <a:srgbClr val="475569"/>
                </a:solidFill>
              </a:rPr>
              <a:t>Custom workflows built specifically for Vaidyas, patent attorneys, and researchers.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Non-Technical Interface: </a:t>
            </a:r>
            <a:r>
              <a:rPr sz="800">
                <a:solidFill>
                  <a:srgbClr val="475569"/>
                </a:solidFill>
              </a:rPr>
              <a:t>Intuitive web application with zero command-line or coding knowledge required.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9872" y="960120"/>
            <a:ext cx="3694176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4464" y="1097280"/>
            <a:ext cx="411480" cy="41148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8778240" y="1097280"/>
            <a:ext cx="291693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Regulatory &amp; Sovereign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84464" y="1490472"/>
            <a:ext cx="336499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• CSIR-TKDL Confidentiality: </a:t>
            </a:r>
            <a:r>
              <a:rPr sz="800">
                <a:solidFill>
                  <a:srgbClr val="475569"/>
                </a:solidFill>
              </a:rPr>
              <a:t>Strict adherence to traditional knowledge non-disclosure agreements.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Indian Data Sovereignty: </a:t>
            </a:r>
            <a:r>
              <a:rPr sz="800">
                <a:solidFill>
                  <a:srgbClr val="475569"/>
                </a:solidFill>
              </a:rPr>
              <a:t>Sensitive Ayurvedic formulas and patents never leave institutional boundaries.</a:t>
            </a:r>
          </a:p>
          <a:p>
            <a:pPr>
              <a:spcBef>
                <a:spcPts val="200"/>
              </a:spcBef>
            </a:pPr>
            <a:r>
              <a:rPr sz="850" b="1">
                <a:solidFill>
                  <a:srgbClr val="0F172A"/>
                </a:solidFill>
              </a:rPr>
              <a:t>• 100% Deterministic Evidence: </a:t>
            </a:r>
            <a:r>
              <a:rPr sz="800">
                <a:solidFill>
                  <a:srgbClr val="475569"/>
                </a:solidFill>
              </a:rPr>
              <a:t>Every claim backed by official Gazette enactment dates and section anchors.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560320"/>
            <a:ext cx="53035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image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2697480"/>
            <a:ext cx="2148840" cy="137160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2788920" y="269748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Validated Working Prototype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Full-featured Streamlit user interface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Section 3(p) prior art triage &amp; evaluation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Interactive primary legal source citations</a:t>
            </a:r>
          </a:p>
          <a:p>
            <a:pPr>
              <a:defRPr sz="850">
                <a:solidFill>
                  <a:srgbClr val="0B4F34"/>
                </a:solidFill>
              </a:defRPr>
            </a:pPr>
            <a:r>
              <a:t>✓ Instant English, Hindi, and Kannada answers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5852160" y="2560320"/>
            <a:ext cx="5971032" cy="16459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6126480" y="2697480"/>
            <a:ext cx="54223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Empirical Validation Highlights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126480" y="3017520"/>
            <a:ext cx="542239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B365D"/>
                </a:solidFill>
              </a:rPr>
              <a:t>• 7 Primary Statutes: </a:t>
            </a:r>
            <a:r>
              <a:rPr sz="850">
                <a:solidFill>
                  <a:srgbClr val="475569"/>
                </a:solidFill>
              </a:rPr>
              <a:t>Patents Act 1970, Biodiversity Act 2002/23, D&amp;C Act 1940, WIPO, Nagoya, PCIM&amp;H, TKDL.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B365D"/>
                </a:solidFill>
              </a:rPr>
              <a:t>• 98 / 98 Automated Tests: </a:t>
            </a:r>
            <a:r>
              <a:rPr sz="850">
                <a:solidFill>
                  <a:srgbClr val="475569"/>
                </a:solidFill>
              </a:rPr>
              <a:t>100% deterministic test pass rate across jurisdiction routing, citation extraction, and Indic translation.</a:t>
            </a:r>
          </a:p>
          <a:p>
            <a:pPr>
              <a:spcBef>
                <a:spcPts val="300"/>
              </a:spcBef>
            </a:pPr>
            <a:r>
              <a:rPr sz="900" b="1">
                <a:solidFill>
                  <a:srgbClr val="1B365D"/>
                </a:solidFill>
              </a:rPr>
              <a:t>• &lt; 1.2s Local CPU Speed: </a:t>
            </a:r>
            <a:r>
              <a:rPr sz="850">
                <a:solidFill>
                  <a:srgbClr val="475569"/>
                </a:solidFill>
              </a:rPr>
              <a:t>Average response latency measured on standard non-GPU commodity hardware over 250 test queries.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365760" y="4343400"/>
            <a:ext cx="11457432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548640" y="44348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B2545"/>
                </a:solidFill>
              </a:defRPr>
            </a:pPr>
            <a:r>
              <a:t>Scalability &amp; Deployment Roadmap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594360" y="4690872"/>
            <a:ext cx="3520440" cy="932688"/>
          </a:xfrm>
          <a:prstGeom prst="roundRect">
            <a:avLst/>
          </a:prstGeom>
          <a:solidFill>
            <a:srgbClr val="E6F6EE"/>
          </a:solidFill>
          <a:ln w="15240">
            <a:solidFill>
              <a:srgbClr val="0B4F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/>
          <p:cNvSpPr txBox="1"/>
          <p:nvPr/>
        </p:nvSpPr>
        <p:spPr>
          <a:xfrm>
            <a:off x="704088" y="4745736"/>
            <a:ext cx="3300984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B4F34"/>
                </a:solidFill>
              </a:defRPr>
            </a:pPr>
            <a:r>
              <a:t>PHASE 1: WORKING PROTOTYPE (CURRENT)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SIH 2026 Milestone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Validated FastAPI backend &amp; Streamlit UI</a:t>
            </a:r>
            <a:br/>
            <a:r>
              <a:t>• 7 primary statutory corpuses indexed</a:t>
            </a:r>
            <a:br/>
            <a:r>
              <a:t>• Sub-1.2s local retrieval &amp; 98/98 tests passing</a:t>
            </a:r>
            <a:br/>
            <a:r>
              <a:t>• Native Trilingual UI (English, Hindi, Kannada)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334256" y="4690872"/>
            <a:ext cx="3520440" cy="932688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4443984" y="4745736"/>
            <a:ext cx="3300984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1B365D"/>
                </a:solidFill>
              </a:defRPr>
            </a:pPr>
            <a:r>
              <a:t>PHASE 2: INSTITUTIONAL PILOT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Q3 - Q4 2026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Deployment across 5 Ayush research universities</a:t>
            </a:r>
            <a:br/>
            <a:r>
              <a:t>• Formal feedback with registered patent attorneys</a:t>
            </a:r>
            <a:br/>
            <a:r>
              <a:t>• State Biodiversity Board ABS fee calculator</a:t>
            </a:r>
            <a:br/>
            <a:r>
              <a:t>• Accuracy &amp; latency stress-testing at scale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074152" y="4690872"/>
            <a:ext cx="3520440" cy="932688"/>
          </a:xfrm>
          <a:prstGeom prst="roundRect">
            <a:avLst/>
          </a:prstGeom>
          <a:solidFill>
            <a:srgbClr val="FEF3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8183880" y="4745736"/>
            <a:ext cx="3300984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PHASE 3: NATIONAL SCALE &amp; EXPANSION</a:t>
            </a:r>
          </a:p>
          <a:p>
            <a:pPr>
              <a:defRPr sz="750" b="1">
                <a:solidFill>
                  <a:srgbClr val="0F172A"/>
                </a:solidFill>
              </a:defRPr>
            </a:pPr>
            <a:r>
              <a:t>2027 &amp; Beyond</a:t>
            </a:r>
          </a:p>
          <a:p>
            <a:pPr>
              <a:defRPr sz="750">
                <a:solidFill>
                  <a:srgbClr val="475569"/>
                </a:solidFill>
              </a:defRPr>
            </a:pPr>
            <a:r>
              <a:t>• Direct integration with National Ayush Mission</a:t>
            </a:r>
            <a:br/>
            <a:r>
              <a:t>• Automated IPO weekly gazette synchronization</a:t>
            </a:r>
            <a:br/>
            <a:r>
              <a:t>• Quantized edge SLMs (4-bit Qwen on-device)</a:t>
            </a:r>
            <a:br/>
            <a:r>
              <a:t>• Expansion to Tamil, Telugu, and Marathi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/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IMPACT, BENEFITS &amp; STAKEHOLDERS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595AF433-6E91-BD54-F1A8-1AF4CED841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65760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1" name="Picture 174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097280"/>
            <a:ext cx="1188720" cy="914400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783080" y="1097280"/>
            <a:ext cx="21396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Bio-Piracy Defense &amp; Sovereignty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2075688"/>
            <a:ext cx="3419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Shields Indian traditional knowledge from wrongful international patenting by equipping patent agents with instant prior art and Section 3(p) defense.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242816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1097280"/>
            <a:ext cx="1188720" cy="914400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5660136" y="1097280"/>
            <a:ext cx="21396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Accelerated Ayush R&amp;D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79976" y="2075688"/>
            <a:ext cx="3419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Slashes prior art and regulatory clearance search time from 2–3 weeks to under 2 seconds, accelerating Ayurvedic drug discovery and IP filing.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19872" y="960120"/>
            <a:ext cx="3694176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9" name="Picture 174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7032" y="1097280"/>
            <a:ext cx="1188720" cy="914400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537192" y="1097280"/>
            <a:ext cx="2139696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2545"/>
                </a:solidFill>
              </a:defRPr>
            </a:pPr>
            <a:r>
              <a:t>Grassroots Language Equity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57032" y="2075688"/>
            <a:ext cx="3419856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75569"/>
                </a:solidFill>
              </a:defRPr>
            </a:pPr>
            <a:r>
              <a:t>Democratizes complex intellectual property frameworks for traditional healers, farmers, and MSMEs through native Hindi and Kannada guidance.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65760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017520"/>
            <a:ext cx="822960" cy="82296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417320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Ayush Researchers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Evaluate Novelty Instantly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Screen novel botanical compounds against Section 3(p) exclusions and scientific literature before investing in clinical trials.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264408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7" name="Picture 174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3017520"/>
            <a:ext cx="822960" cy="822960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315968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Patent Attorneys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Courtroom-Grade Citations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3401568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Rapid prior-art discovery, statutory defense drafting, and compliance verification across international patent treaties.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63056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1" name="Picture 174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216" y="3017520"/>
            <a:ext cx="822960" cy="822960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7214616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Herbal MSMEs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Streamlined ASU Compliance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300216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Clear guidance on Drugs &amp; Cosmetics Act licensing, Ayurvedic Pharmacopoeia standards, and State Biodiversity Board approvals.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61704" y="2880360"/>
            <a:ext cx="274320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5" name="Picture 1743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98864" y="3017520"/>
            <a:ext cx="822960" cy="82296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0113264" y="3017520"/>
            <a:ext cx="16002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0B2545"/>
                </a:solidFill>
              </a:defRPr>
            </a:pPr>
            <a:r>
              <a:t>Traditional Healers</a:t>
            </a:r>
          </a:p>
          <a:p>
            <a:pPr>
              <a:defRPr sz="850" b="1">
                <a:solidFill>
                  <a:srgbClr val="0B4F34"/>
                </a:solidFill>
              </a:defRPr>
            </a:pPr>
            <a:r>
              <a:t>Community IP Protection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9198864" y="3904488"/>
            <a:ext cx="246888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>
                <a:solidFill>
                  <a:srgbClr val="475569"/>
                </a:solidFill>
              </a:defRPr>
            </a:pPr>
            <a:r>
              <a:t>Native-language access in Hindi &amp; Kannada protects local agricultural biodiversity and community intellectual property rights.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65760" y="4892040"/>
            <a:ext cx="11457432" cy="7772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502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100% Offline-Capable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Zero reliance on external cloud servers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2788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Zero Recurring GPU Cost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Runs on standard commodity laptop CPU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074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Deterministic Citations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Directly anchored to official Gazettes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360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Cross-Statute Synthesis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Harmonizes Patents Act, BDA &amp; D&amp;C Act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646920" y="5001768"/>
            <a:ext cx="21488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✓ Trilingual Equity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Native English, Hindi, and Kannada answers</a:t>
            </a:r>
          </a:p>
        </p:txBody>
      </p:sp>
    </p:spTree>
    <p:extLst>
      <p:ext uri="{BB962C8B-B14F-4D97-AF65-F5344CB8AC3E}">
        <p14:creationId xmlns:p14="http://schemas.microsoft.com/office/powerpoint/2010/main" val="1751623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sz="1800" dirty="0">
              <a:latin typeface="Calibri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0000" y="110000"/>
            <a:ext cx="8060000" cy="807334"/>
          </a:xfrm>
        </p:spPr>
        <p:txBody>
          <a:bodyPr anchor="ctr">
            <a:normAutofit/>
          </a:bodyPr>
          <a:lstStyle/>
          <a:p>
            <a:pPr>
              <a:defRPr sz="2800" b="1">
                <a:solidFill>
                  <a:srgbClr val="0B2545"/>
                </a:solidFill>
                <a:latin typeface="Segoe UI"/>
              </a:defRPr>
            </a:pPr>
            <a:r>
              <a:t>RESEARCH, REFERENCES &amp; PROTOTYPE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329773" y="110000"/>
            <a:ext cx="1251857" cy="80733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50000"/>
              </a:schemeClr>
            </a:solidFill>
          </a:ln>
          <a:effectLst>
            <a:glow rad="101600">
              <a:schemeClr val="accent5">
                <a:lumMod val="50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0B2545"/>
                </a:solidFill>
                <a:latin typeface="Segoe UI"/>
              </a:defRPr>
            </a:pPr>
            <a:r>
              <a:t>OUTLAWS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1005840"/>
            <a:ext cx="59436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106070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2545"/>
                </a:solidFill>
              </a:defRPr>
            </a:pPr>
            <a:r>
              <a:t>1. Indian Sovereign Statutes &amp; Regulatory Authorities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16736"/>
            <a:ext cx="310896" cy="310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50976" y="1316736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The Patents Act, 1970 (Sec 3(p) &amp; 10) — </a:t>
            </a:r>
            <a:r>
              <a:rPr sz="800">
                <a:solidFill>
                  <a:srgbClr val="2563EB"/>
                </a:solidFill>
              </a:rPr>
              <a:t>ipindia.gov.in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00784"/>
            <a:ext cx="310896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976" y="170078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The Biological Diversity Act, 2002 &amp; 2023 — </a:t>
            </a:r>
            <a:r>
              <a:rPr sz="800">
                <a:solidFill>
                  <a:srgbClr val="2563EB"/>
                </a:solidFill>
              </a:rPr>
              <a:t>nbaindia.org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084832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0976" y="208483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Drugs &amp; Cosmetics Act, 1940 (ASU Rules) — </a:t>
            </a:r>
            <a:r>
              <a:rPr sz="800">
                <a:solidFill>
                  <a:srgbClr val="2563EB"/>
                </a:solidFill>
              </a:rPr>
              <a:t>ayush.gov.in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560320"/>
            <a:ext cx="59436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61518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2545"/>
                </a:solidFill>
              </a:defRPr>
            </a:pPr>
            <a:r>
              <a:t>2. Multilateral Treaties &amp; Traditional Knowledge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2871216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0976" y="2871216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WIPO GRATK Treaty (2024 Mandatory Disclosure) — </a:t>
            </a:r>
            <a:r>
              <a:rPr sz="800">
                <a:solidFill>
                  <a:srgbClr val="2563EB"/>
                </a:solidFill>
              </a:rPr>
              <a:t>wipo.int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3255264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0976" y="325526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Nagoya Protocol on Access &amp; Benefit-Sharing — </a:t>
            </a:r>
            <a:r>
              <a:rPr sz="800">
                <a:solidFill>
                  <a:srgbClr val="2563EB"/>
                </a:solidFill>
              </a:rPr>
              <a:t>cbd.int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639312"/>
            <a:ext cx="310896" cy="310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0976" y="363931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PCIM&amp;H Standards &amp; CSIR-TKDL Guidelines — </a:t>
            </a:r>
            <a:r>
              <a:rPr sz="800">
                <a:solidFill>
                  <a:srgbClr val="2563EB"/>
                </a:solidFill>
              </a:rPr>
              <a:t>pcimh.gov.in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114800"/>
            <a:ext cx="5943600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48640" y="4169664"/>
            <a:ext cx="5577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B2545"/>
                </a:solidFill>
              </a:defRPr>
            </a:pPr>
            <a:r>
              <a:t>3. Open-Source AI Stack &amp; Project Repository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4425696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50976" y="4425696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FAISS Dense Vector Index &amp; Sentence-Transformers — </a:t>
            </a:r>
            <a:r>
              <a:rPr sz="800">
                <a:solidFill>
                  <a:srgbClr val="2563EB"/>
                </a:solidFill>
              </a:rPr>
              <a:t>huggingface.co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640" y="4809744"/>
            <a:ext cx="310896" cy="310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950976" y="4809744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 dirty="0">
                <a:solidFill>
                  <a:srgbClr val="0F172A"/>
                </a:solidFill>
              </a:rPr>
              <a:t>IP-SAKTI </a:t>
            </a:r>
            <a:r>
              <a:rPr sz="850" b="1" dirty="0" err="1">
                <a:solidFill>
                  <a:srgbClr val="0F172A"/>
                </a:solidFill>
              </a:rPr>
              <a:t>Sahayak</a:t>
            </a:r>
            <a:r>
              <a:rPr sz="850" b="1" dirty="0">
                <a:solidFill>
                  <a:srgbClr val="0F172A"/>
                </a:solidFill>
              </a:rPr>
              <a:t> GitHub Repository — </a:t>
            </a:r>
            <a:r>
              <a:rPr sz="800" dirty="0">
                <a:solidFill>
                  <a:srgbClr val="2563EB"/>
                </a:solidFill>
              </a:rPr>
              <a:t>github.com/Rengoku9000/</a:t>
            </a:r>
            <a:r>
              <a:rPr sz="800" dirty="0" err="1">
                <a:solidFill>
                  <a:srgbClr val="2563EB"/>
                </a:solidFill>
              </a:rPr>
              <a:t>ip</a:t>
            </a:r>
            <a:r>
              <a:rPr sz="800" dirty="0">
                <a:solidFill>
                  <a:srgbClr val="2563EB"/>
                </a:solidFill>
              </a:rPr>
              <a:t>-shakti</a:t>
            </a:r>
          </a:p>
        </p:txBody>
      </p:sp>
      <p:pic>
        <p:nvPicPr>
          <p:cNvPr id="35" name="Picture 34" descr="qr_repor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8640" y="5193792"/>
            <a:ext cx="310896" cy="31089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50976" y="5193792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F172A"/>
                </a:solidFill>
              </a:rPr>
              <a:t>Full Project Report &amp; Evidence Dossier — </a:t>
            </a:r>
            <a:r>
              <a:rPr sz="800">
                <a:solidFill>
                  <a:srgbClr val="2563EB"/>
                </a:solidFill>
              </a:rPr>
              <a:t>drive.google.com (SIH 2026)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1005840"/>
            <a:ext cx="533095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1115568"/>
            <a:ext cx="487375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2545"/>
                </a:solidFill>
              </a:defRPr>
            </a:pPr>
            <a:r>
              <a:t>Working Prototype UI — Live Verification</a:t>
            </a:r>
          </a:p>
        </p:txBody>
      </p:sp>
      <p:pic>
        <p:nvPicPr>
          <p:cNvPr id="39" name="Picture 38" descr="image.jpe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20840" y="1444752"/>
            <a:ext cx="4873752" cy="301752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6720840" y="4553712"/>
            <a:ext cx="4873752" cy="102412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58000" y="4626864"/>
            <a:ext cx="4599432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B2545"/>
                </a:solidFill>
              </a:defRPr>
            </a:pPr>
            <a:r>
              <a:t>Prototype Specifications &amp; Operational Guarantees: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Streamlit reactive frontend with instant trilingual tab switching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Deterministic citation drawer linking directly to Gazette enactments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Sub-1.2 second response latency on local commodity CPU (Zero GPU needed)</a:t>
            </a:r>
          </a:p>
          <a:p>
            <a:pPr>
              <a:defRPr sz="800">
                <a:solidFill>
                  <a:srgbClr val="475569"/>
                </a:solidFill>
              </a:defRPr>
            </a:pPr>
            <a:r>
              <a:t>• 98/98 unit and regression tests passing with full test automation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8173</TotalTime>
  <Words>1595</Words>
  <Application>Microsoft Office PowerPoint</Application>
  <PresentationFormat>Widescreen</PresentationFormat>
  <Paragraphs>178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PROPOSED SOLUTION</vt:lpstr>
      <vt:lpstr>TECHNICAL APPROACH &amp; ARCHITECTURE</vt:lpstr>
      <vt:lpstr>FEASIBILITY, VIABILITY &amp; ROADMAP</vt:lpstr>
      <vt:lpstr>IMPACT, BENEFITS &amp; STAKEHOLDERS</vt:lpstr>
      <vt:lpstr>RESEARCH, REFERENCES &amp; PROTOTYPE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Kunal Kumar</cp:lastModifiedBy>
  <cp:revision>192</cp:revision>
  <dcterms:created xsi:type="dcterms:W3CDTF">2013-12-12T18:46:50Z</dcterms:created>
  <dcterms:modified xsi:type="dcterms:W3CDTF">2026-09-30T18:12:27Z</dcterms:modified>
  <cp:category/>
</cp:coreProperties>
</file>